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10e27ad7464044" /><Relationship Type="http://schemas.openxmlformats.org/officeDocument/2006/relationships/extended-properties" Target="/docProps/app.xml" Id="R23beda21a6cf4ead" /><Relationship Type="http://schemas.openxmlformats.org/officeDocument/2006/relationships/officeDocument" Target="/ppt/presentation.xml" Id="Rc9bf8112967c43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16184e7c5b4cb0"/>
  </p:sldMasterIdLst>
  <p:notesMasterIdLst>
    <p:notesMasterId xmlns:r="http://schemas.openxmlformats.org/officeDocument/2006/relationships" r:id="R78d913d8c1c84ba2"/>
  </p:notesMasterIdLst>
  <p:sldIdLst>
    <p:sldId xmlns:r="http://schemas.openxmlformats.org/officeDocument/2006/relationships" id="256" r:id="Rb260348599f24f78"/>
    <p:sldId xmlns:r="http://schemas.openxmlformats.org/officeDocument/2006/relationships" id="257" r:id="R67a134e3bca443a8"/>
    <p:sldId xmlns:r="http://schemas.openxmlformats.org/officeDocument/2006/relationships" id="258" r:id="Rf2894ab9d5c54bbf"/>
    <p:sldId xmlns:r="http://schemas.openxmlformats.org/officeDocument/2006/relationships" id="259" r:id="Rb486b283614a4a97"/>
    <p:sldId xmlns:r="http://schemas.openxmlformats.org/officeDocument/2006/relationships" id="260" r:id="R88e36947d83d45ea"/>
    <p:sldId xmlns:r="http://schemas.openxmlformats.org/officeDocument/2006/relationships" id="261" r:id="R069ebaf1bcb44633"/>
    <p:sldId xmlns:r="http://schemas.openxmlformats.org/officeDocument/2006/relationships" id="262" r:id="R5c1938c9786b4771"/>
    <p:sldId xmlns:r="http://schemas.openxmlformats.org/officeDocument/2006/relationships" id="263" r:id="Rbadc2157ba4a4c73"/>
    <p:sldId xmlns:r="http://schemas.openxmlformats.org/officeDocument/2006/relationships" id="264" r:id="Ra3c47d25c8644f78"/>
    <p:sldId xmlns:r="http://schemas.openxmlformats.org/officeDocument/2006/relationships" id="265" r:id="R51fded688950444a"/>
    <p:sldId xmlns:r="http://schemas.openxmlformats.org/officeDocument/2006/relationships" id="266" r:id="R7f273450a9b64c3f"/>
    <p:sldId xmlns:r="http://schemas.openxmlformats.org/officeDocument/2006/relationships" id="267" r:id="Rc48ad607d9094852"/>
    <p:sldId xmlns:r="http://schemas.openxmlformats.org/officeDocument/2006/relationships" id="268" r:id="Ra9de14555ef6405c"/>
    <p:sldId xmlns:r="http://schemas.openxmlformats.org/officeDocument/2006/relationships" id="269" r:id="R8af45fbbbe514561"/>
    <p:sldId xmlns:r="http://schemas.openxmlformats.org/officeDocument/2006/relationships" id="270" r:id="R822dedbbe7f0431d"/>
    <p:sldId xmlns:r="http://schemas.openxmlformats.org/officeDocument/2006/relationships" id="271" r:id="Rebe978fcd65a4a03"/>
    <p:sldId xmlns:r="http://schemas.openxmlformats.org/officeDocument/2006/relationships" id="272" r:id="R167a425ae37e4d12"/>
    <p:sldId xmlns:r="http://schemas.openxmlformats.org/officeDocument/2006/relationships" id="273" r:id="R8cb85fe2566d44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9153f49343401e" /><Relationship Type="http://schemas.openxmlformats.org/officeDocument/2006/relationships/slideMaster" Target="/ppt/slideMasters/slideMaster1.xml" Id="R4416184e7c5b4cb0" /><Relationship Type="http://schemas.openxmlformats.org/officeDocument/2006/relationships/notesMaster" Target="/ppt/notesMasters/notesMaster1.xml" Id="R78d913d8c1c84ba2" /><Relationship Type="http://schemas.openxmlformats.org/officeDocument/2006/relationships/presProps" Target="/ppt/presProps.xml" Id="R31e09a7c482d4bd7" /><Relationship Type="http://schemas.openxmlformats.org/officeDocument/2006/relationships/viewProps" Target="/ppt/viewProps.xml" Id="R1658bd5268fe4102" /><Relationship Type="http://schemas.openxmlformats.org/officeDocument/2006/relationships/tableStyles" Target="/ppt/tableStyles.xml" Id="R147d1d9edf7f4603" /><Relationship Type="http://schemas.openxmlformats.org/officeDocument/2006/relationships/slide" Target="/ppt/slides/slide1.xml" Id="Rb260348599f24f78" /><Relationship Type="http://schemas.openxmlformats.org/officeDocument/2006/relationships/slide" Target="/ppt/slides/slide2.xml" Id="R67a134e3bca443a8" /><Relationship Type="http://schemas.openxmlformats.org/officeDocument/2006/relationships/slide" Target="/ppt/slides/slide3.xml" Id="Rf2894ab9d5c54bbf" /><Relationship Type="http://schemas.openxmlformats.org/officeDocument/2006/relationships/slide" Target="/ppt/slides/slide4.xml" Id="Rb486b283614a4a97" /><Relationship Type="http://schemas.openxmlformats.org/officeDocument/2006/relationships/slide" Target="/ppt/slides/slide5.xml" Id="R88e36947d83d45ea" /><Relationship Type="http://schemas.openxmlformats.org/officeDocument/2006/relationships/slide" Target="/ppt/slides/slide6.xml" Id="R069ebaf1bcb44633" /><Relationship Type="http://schemas.openxmlformats.org/officeDocument/2006/relationships/slide" Target="/ppt/slides/slide7.xml" Id="R5c1938c9786b4771" /><Relationship Type="http://schemas.openxmlformats.org/officeDocument/2006/relationships/slide" Target="/ppt/slides/slide8.xml" Id="Rbadc2157ba4a4c73" /><Relationship Type="http://schemas.openxmlformats.org/officeDocument/2006/relationships/slide" Target="/ppt/slides/slide9.xml" Id="Ra3c47d25c8644f78" /><Relationship Type="http://schemas.openxmlformats.org/officeDocument/2006/relationships/slide" Target="/ppt/slides/slide10.xml" Id="R51fded688950444a" /><Relationship Type="http://schemas.openxmlformats.org/officeDocument/2006/relationships/slide" Target="/ppt/slides/slide11.xml" Id="R7f273450a9b64c3f" /><Relationship Type="http://schemas.openxmlformats.org/officeDocument/2006/relationships/slide" Target="/ppt/slides/slide12.xml" Id="Rc48ad607d9094852" /><Relationship Type="http://schemas.openxmlformats.org/officeDocument/2006/relationships/slide" Target="/ppt/slides/slide13.xml" Id="Ra9de14555ef6405c" /><Relationship Type="http://schemas.openxmlformats.org/officeDocument/2006/relationships/slide" Target="/ppt/slides/slide14.xml" Id="R8af45fbbbe514561" /><Relationship Type="http://schemas.openxmlformats.org/officeDocument/2006/relationships/slide" Target="/ppt/slides/slide15.xml" Id="R822dedbbe7f0431d" /><Relationship Type="http://schemas.openxmlformats.org/officeDocument/2006/relationships/slide" Target="/ppt/slides/slide16.xml" Id="Rebe978fcd65a4a03" /><Relationship Type="http://schemas.openxmlformats.org/officeDocument/2006/relationships/slide" Target="/ppt/slides/slide17.xml" Id="R167a425ae37e4d12" /><Relationship Type="http://schemas.openxmlformats.org/officeDocument/2006/relationships/slide" Target="/ppt/slides/slide18.xml" Id="R8cb85fe2566d44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fd1721e8b349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19f93a67244df0" /><Relationship Type="http://schemas.openxmlformats.org/officeDocument/2006/relationships/notesMaster" Target="/ppt/notesMasters/notesMaster1.xml" Id="Rda3dc654b4464f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6cbd8a8cec44dd" /><Relationship Type="http://schemas.openxmlformats.org/officeDocument/2006/relationships/notesMaster" Target="/ppt/notesMasters/notesMaster1.xml" Id="R11dcbc7e16434e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8c1517221a4334" /><Relationship Type="http://schemas.openxmlformats.org/officeDocument/2006/relationships/notesMaster" Target="/ppt/notesMasters/notesMaster1.xml" Id="Rc5a8ba153d5c4b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6cd47117994030" /><Relationship Type="http://schemas.openxmlformats.org/officeDocument/2006/relationships/notesMaster" Target="/ppt/notesMasters/notesMaster1.xml" Id="R887b9fa1b31f40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ec775ca9f04dd2" /><Relationship Type="http://schemas.openxmlformats.org/officeDocument/2006/relationships/notesMaster" Target="/ppt/notesMasters/notesMaster1.xml" Id="R2405de94b1c542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724e50b5e1457e" /><Relationship Type="http://schemas.openxmlformats.org/officeDocument/2006/relationships/notesMaster" Target="/ppt/notesMasters/notesMaster1.xml" Id="Rcf7d70b508974b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b297714e674bc9" /><Relationship Type="http://schemas.openxmlformats.org/officeDocument/2006/relationships/notesMaster" Target="/ppt/notesMasters/notesMaster1.xml" Id="R9e97857e884f4e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4c42e01d2145c4" /><Relationship Type="http://schemas.openxmlformats.org/officeDocument/2006/relationships/notesMaster" Target="/ppt/notesMasters/notesMaster1.xml" Id="R72dcce95c20747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673e0c0c204950" /><Relationship Type="http://schemas.openxmlformats.org/officeDocument/2006/relationships/notesMaster" Target="/ppt/notesMasters/notesMaster1.xml" Id="R951e8d79f8b746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4495cbf9bf43ed" /><Relationship Type="http://schemas.openxmlformats.org/officeDocument/2006/relationships/notesMaster" Target="/ppt/notesMasters/notesMaster1.xml" Id="Re5c46a76180943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95891585254033" /><Relationship Type="http://schemas.openxmlformats.org/officeDocument/2006/relationships/notesMaster" Target="/ppt/notesMasters/notesMaster1.xml" Id="R22d8a1b9bbb543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c5995b34fa4a8b" /><Relationship Type="http://schemas.openxmlformats.org/officeDocument/2006/relationships/notesMaster" Target="/ppt/notesMasters/notesMaster1.xml" Id="Raebaebf4be6844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e0ff3516784fa0" /><Relationship Type="http://schemas.openxmlformats.org/officeDocument/2006/relationships/notesMaster" Target="/ppt/notesMasters/notesMaster1.xml" Id="R570f8b47aa3a4a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fa5f4f36cf4e23" /><Relationship Type="http://schemas.openxmlformats.org/officeDocument/2006/relationships/notesMaster" Target="/ppt/notesMasters/notesMaster1.xml" Id="R6b1b63cf40aa40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65c808206a48d7" /><Relationship Type="http://schemas.openxmlformats.org/officeDocument/2006/relationships/notesMaster" Target="/ppt/notesMasters/notesMaster1.xml" Id="R176d9926742840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e24e9398f9495f" /><Relationship Type="http://schemas.openxmlformats.org/officeDocument/2006/relationships/notesMaster" Target="/ppt/notesMasters/notesMaster1.xml" Id="Reb2b5010bc624c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e1b8b351a3454f" /><Relationship Type="http://schemas.openxmlformats.org/officeDocument/2006/relationships/notesMaster" Target="/ppt/notesMasters/notesMaster1.xml" Id="Rdeb6283cf61549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1932f9ab89458a" /><Relationship Type="http://schemas.openxmlformats.org/officeDocument/2006/relationships/notesMaster" Target="/ppt/notesMasters/notesMaster1.xml" Id="Rdc2556e2524d43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Propomos um Assistente Pessoal Financeiro com Engine de Padrões: entende linguagem natural, orquestra o ecossistema Itaú, e aprende com o histórico de cada cliente para antecipar necessidades — literalmente o que o objetivo do desafio pede.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Apps ainda são sistemas de navegação. Um assistente conversacional muda para delegação: o cliente pede. Mas vamos além — o agente aprende os padrões do cliente e antecipa, o que é literalmente o texto do objetivo do desafio.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Itaú tem produto e tem dado histórico — o que falta é orquestração. Já provou que segurança proativa funciona no PJ; a oportunidade é levar isso ao PF e conectar com o resto.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Quatro camadas quebradas: segurança que some, pagamento sem comparação, investimento sem sugestão, e — a mais nova — décadas de padrão de comportamento que o banco simplesmente ignora.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Quatro pilares. Os três primeiros já discutidos antes; o EPC é a novidade — motor de detecção de padrão que transforma histórico em antecipação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único motor de orquestração, não múltiplos agentes autônomos — isso é mais honesto tecnicamente. O EPC detecta padrão com agregação SQL simples, sem inflar como 'clustering' ou 'machine learning' quando é contagem de recorrência com limiar de confiança.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Maria pergunta o que precisa pagar. O agente já validou a segurança e já comparou as formas de pagamento — tudo numa conversa.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sugestão sempre aparece como projeção estimada, nunca promessa, e só para produto de baixíssimo risco — sem exigir perfil de investidor complexo. A pílula de conhecimento é conteúdo pré-aprovado, não gerado pelo LLM.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segurança não termina no cancelar/continuar — depois de validar, o agente avança automaticamente para a otimização, na mesma conversa.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Esse é o caso que mais responde ao texto literal do edital: 'capaz de antecipar necessidades'. Duas faces do mesmo EPC — automação de recorrência via Pix Automático (mecanismo real do BC) e insight de economia com educação contextual. Sempre com limite de frequência pra não virar spam.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competimos com os digitais na simplicidade — competimos no paradigma de interface e na antecipação de necessidades, que exigem profundidade de produto e histórico de dados que só o Itaú tem.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Piso de retenção conservador, receita de engajamento reforçada agora pelas automações do EPC. Payback de 12 a 18 meses, deliberadamente cauteloso.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regulatório favorável: MED 2.0 endurece devolução, Pix Automático já é a base real da automação que propomos, e suitability CVM está explicitamente respeitada — não prometemos rendimento, sugerimos só produto de baixo risco.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Governança explícita: suitability respeitada, nunca prometemos rendimento, consentimento é granular por categoria, notificação tem teto diário, e conteúdo educacional é pré-aprovado, não gerado ao vivo. Isso é o que separa um protótipo ingênuo de uma proposta que um banco pode realmente levar adiante.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Construímos duas propostas funcionais, não uma só. Conservadora dentro do app, arrojada num bot de mensageiro — a mesma arquitetura por trás das duas.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Demonstração ao vivo das duas propostas, incluindo o EPC detectando um padrão com dados sintéticos realistas.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Retenção, engajamento, risco jurídico mitigado, e antecipação real — o que o edital pede no texto. Conectar o que o Itaú já tem. Antecipar o que ninguém mais consegue.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de apoio — usar apenas se a pergunta vier na rodada de perguntas.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6cfc361f346d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89b8098e2f4016" /><Relationship Type="http://schemas.openxmlformats.org/officeDocument/2006/relationships/slideLayout" Target="/ppt/slideLayouts/slideLayout1.xml" Id="Ra0dfedfaad8b4d1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fedfaad8b4d1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29794638b4c5c" /><Relationship Type="http://schemas.openxmlformats.org/officeDocument/2006/relationships/notesSlide" Target="/ppt/notesSlides/notesSlide1.xml" Id="Rcaafc9ab2a894d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b126550dd4b47" /><Relationship Type="http://schemas.openxmlformats.org/officeDocument/2006/relationships/notesSlide" Target="/ppt/notesSlides/notesSlide2.xml" Id="R21a3b66285214c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a01c777144500" /><Relationship Type="http://schemas.openxmlformats.org/officeDocument/2006/relationships/notesSlide" Target="/ppt/notesSlides/notesSlide3.xml" Id="R0dda73571a784c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89f1444894b6b" /><Relationship Type="http://schemas.openxmlformats.org/officeDocument/2006/relationships/notesSlide" Target="/ppt/notesSlides/notesSlide4.xml" Id="Red2c27d9124544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c8593bf18422c" /><Relationship Type="http://schemas.openxmlformats.org/officeDocument/2006/relationships/notesSlide" Target="/ppt/notesSlides/notesSlide5.xml" Id="R919687eee8c84f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721c2cefe4f40" /><Relationship Type="http://schemas.openxmlformats.org/officeDocument/2006/relationships/notesSlide" Target="/ppt/notesSlides/notesSlide6.xml" Id="R02d0f2a93e724e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d4a7b4efd4cf9" /><Relationship Type="http://schemas.openxmlformats.org/officeDocument/2006/relationships/notesSlide" Target="/ppt/notesSlides/notesSlide7.xml" Id="Rf1e5e4197c334a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48d3338b04737" /><Relationship Type="http://schemas.openxmlformats.org/officeDocument/2006/relationships/notesSlide" Target="/ppt/notesSlides/notesSlide8.xml" Id="Redaf08469ed14c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d19a49c8e4a59" /><Relationship Type="http://schemas.openxmlformats.org/officeDocument/2006/relationships/notesSlide" Target="/ppt/notesSlides/notesSlide9.xml" Id="Rdcc4e2299fe341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1d3a2f9484236" /><Relationship Type="http://schemas.openxmlformats.org/officeDocument/2006/relationships/notesSlide" Target="/ppt/notesSlides/notesSlide10.xml" Id="R358e9aea5b5b42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b618812704c9b" /><Relationship Type="http://schemas.openxmlformats.org/officeDocument/2006/relationships/notesSlide" Target="/ppt/notesSlides/notesSlide11.xml" Id="Ra19130dbabc64b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f488bf25a44a2" /><Relationship Type="http://schemas.openxmlformats.org/officeDocument/2006/relationships/notesSlide" Target="/ppt/notesSlides/notesSlide12.xml" Id="R3679fbe753df4a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93917480d4f92" /><Relationship Type="http://schemas.openxmlformats.org/officeDocument/2006/relationships/notesSlide" Target="/ppt/notesSlides/notesSlide13.xml" Id="R30e82e37a82045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f60c9235c4e11" /><Relationship Type="http://schemas.openxmlformats.org/officeDocument/2006/relationships/notesSlide" Target="/ppt/notesSlides/notesSlide14.xml" Id="Rec03e33932d148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76bbbe8f64b01" /><Relationship Type="http://schemas.openxmlformats.org/officeDocument/2006/relationships/notesSlide" Target="/ppt/notesSlides/notesSlide15.xml" Id="R79dd9a3a4208429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5c59158684272" /><Relationship Type="http://schemas.openxmlformats.org/officeDocument/2006/relationships/notesSlide" Target="/ppt/notesSlides/notesSlide16.xml" Id="R55727fe9d5e948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ea817dd9f4dc7" /><Relationship Type="http://schemas.openxmlformats.org/officeDocument/2006/relationships/notesSlide" Target="/ppt/notesSlides/notesSlide17.xml" Id="R24ba4940fed540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52d26efd248dd" /><Relationship Type="http://schemas.openxmlformats.org/officeDocument/2006/relationships/notesSlide" Target="/ppt/notesSlides/notesSlide18.xml" Id="R0dd71c79df8a48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83E135-FC3D-4B53-9CBC-F312CDB2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569489-0340-4B2E-8AB4-6C84A240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rgbClr val="FF6600"/>
                </a:solidFill>
              </a:rPr>
              <a:t>INOVACAMP — DESAFIO DE NEGÓCIOS ITAÚ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F99A1DB-19F7-48C3-9D03-EC586B7C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1072591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</a:rPr>
              <a:t>Assistente Pessoal Financeiro (APF)</a:t>
            </a:r>
            <a:endParaRPr sz="3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FE8749E-C249-480E-9A5A-E63AC5C0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1072591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C9D2E3"/>
                </a:solidFill>
              </a:rPr>
              <a:t>Com Engine de Padrões: da segurança à antecipação de necessidades</a:t>
            </a:r>
            <a:endParaRPr sz="17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A77A8F1-E0D6-40C0-ACE2-5F716314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660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8602D88-B47D-4C13-B434-92F0308C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23360"/>
            <a:ext cx="107259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i="1">
                <a:solidFill>
                  <a:srgbClr val="AEB8CC"/>
                </a:solidFill>
              </a:rPr>
              <a:t>“Não é mais um app que você usa. É um agente que aprende com você, avisa antes e te ensina no momento certo.”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2970908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5743FC-111B-489B-88BE-7DFACBEE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A TESE CENTRAL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B365F5-CEC9-473F-B034-4E4B28BE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De navegar, para pedir, para ser antecipado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8BC3A83-A39F-4898-8357-DEAD5CF8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474720" cy="237744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5C5FB2-5BDC-4979-99E8-E58AD6EE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3017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E1B33"/>
                </a:solidFill>
              </a:rPr>
              <a:t>Navegar (hoje)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866C915-127A-4EF5-AF2D-B8D99C92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51760"/>
            <a:ext cx="3017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Apps bancários pedem que o cliente aprenda a estrutura de menu de outra pessoa.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07EFE3C-B637-424A-9983-47093CA4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651760"/>
            <a:ext cx="640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FF6600"/>
                </a:solidFill>
              </a:rPr>
              <a:t>→</a:t>
            </a:r>
            <a:endParaRPr sz="2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B4CFB6D-36A8-49F8-9A1A-5481809C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828800"/>
            <a:ext cx="3474720" cy="237744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3C8A809-2D47-47C4-9BC3-7302FEC2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57400"/>
            <a:ext cx="3017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D9A8"/>
                </a:solidFill>
              </a:rPr>
              <a:t>Pedir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9837489-83DE-41DE-AE12-092AD1AC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651760"/>
            <a:ext cx="3017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7DCE6"/>
                </a:solidFill>
              </a:rPr>
              <a:t>O cliente pede como pediria a uma pessoa: “Paga minha conta de água”.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B855780-025A-4D75-8306-FED157F9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2651760"/>
            <a:ext cx="640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FF6600"/>
                </a:solidFill>
              </a:rPr>
              <a:t>→</a:t>
            </a:r>
            <a:endParaRPr sz="2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370213C-833A-486A-B512-8A4EF17E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828800"/>
            <a:ext cx="3474720" cy="237744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FF87BEE-1F6C-4BE4-B7F8-3C0B5F62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057400"/>
            <a:ext cx="3017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6600"/>
                </a:solidFill>
              </a:rPr>
              <a:t>Ser antecipado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58D87D8-A5BC-4B8B-A96F-7E73E18A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51760"/>
            <a:ext cx="3017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7DCE6"/>
                </a:solidFill>
              </a:rPr>
              <a:t>O agente já sabe: detecta o padrão e sugere antes de você lembrar.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3B73F0E-6DF2-40EE-839B-0ED54A54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1091672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E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CA01914-A593-48F2-8418-370D2A48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4840"/>
            <a:ext cx="1054303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E1B33"/>
                </a:solidFill>
              </a:rPr>
              <a:t>Inclusão real: pedir tem custo cognitivo muito menor que navegar — não só para usuários mais velhos, qualquer pessoa cansada de aprender interface nova. Nem bancos tradicionais nem digitais resolveram essa frente.</a:t>
            </a:r>
            <a:endParaRPr sz="13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1ED4933-9564-431A-B080-5E814F7E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959EB4F-4D89-4F51-88C2-814515AE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05272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0E1B33"/>
                </a:solidFill>
              </a:rPr>
              <a:t>“Antecipar necessidades” é o que o próprio edital pede. Nada resolve isso de fato sem aprender com o histórico do cliente.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CC911CB-8329-4D08-A388-B0DB3D5E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02627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6E3FC49-8086-4F8F-993F-29A0A2D4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O PARADOXO DO ITAÚ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324709-5E28-452E-A184-69722CD8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O banco tem as peças. Ninguém conectou elas.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6F6A434-AA0D-42D3-A527-734C3A0E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474720" cy="29260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9FD1A1A-7323-4169-8835-09BFE55C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47472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20D493-DBB9-4A7C-8777-49BA9A27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0E1B33"/>
                </a:solidFill>
              </a:rPr>
              <a:t>Mais produtos</a:t>
            </a:r>
            <a:endParaRPr sz="16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2ABC658-AB26-4648-8637-7BC1684D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80"/>
            <a:ext cx="292608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0"/>
                </a:solidFill>
              </a:rPr>
              <a:t>que qualquer banco digital: cartão, conta, investimentos, consignado, seguros, câmbio, BBA.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B2D7B11-57BC-495A-9115-54FB4B67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828800"/>
            <a:ext cx="3474720" cy="29260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874D8C4-5CA1-46CF-93A7-031DF17E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828800"/>
            <a:ext cx="347472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1C9DDC5-D5F1-478E-8165-465C73B2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0312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0E1B33"/>
                </a:solidFill>
              </a:rPr>
              <a:t>Décadas de dados</a:t>
            </a:r>
            <a:endParaRPr sz="16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7B19AE9-0C56-497B-B0B7-062BCC8D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7480"/>
            <a:ext cx="292608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0"/>
                </a:solidFill>
              </a:rPr>
              <a:t>histórico transacional que nenhum banco digital novo possui — matéria-prima do EPC.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685E006-8C3E-4E6E-9BA1-14611AA8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828800"/>
            <a:ext cx="3474720" cy="29260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CE667A4-605F-4828-8BC9-B6B2AD61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828800"/>
            <a:ext cx="347472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E9DC86A-F332-43D1-8090-04E15E95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0312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0E1B33"/>
                </a:solidFill>
              </a:rPr>
              <a:t>Segurança comprovada</a:t>
            </a:r>
            <a:endParaRPr sz="16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DFF7AC4-76CD-425B-ADC8-D37822CE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697480"/>
            <a:ext cx="292608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0"/>
                </a:solidFill>
              </a:rPr>
              <a:t>o Itaú já validou, oficialmente, um pacote de segurança proativa (ago/2025) — hoje restrito ao PJ.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0E0EB19-B8B7-487C-839F-9F50D4F5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C3449E2-EC1C-484E-9BE2-AC922B94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48072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0E1B33"/>
                </a:solidFill>
              </a:rPr>
              <a:t>Os produtos e os dados existem. A gente propõe conectá-los numa única jornada de decisão — via conversa natural.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8203D76-0186-4B79-930E-DF176025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344134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747A065-F076-4112-A2E6-E3ABCBDF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O PROBLEMA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EECD7B-586B-40C6-B80D-98EDC811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Quatro camadas, uma jornada quebrada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800E5E-EFB5-423C-AE85-0560612A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4864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5F4259F-FA12-47AE-8A47-0551ED88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</a:rPr>
              <a:t>1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D7BB558-BAE6-42A8-A595-308F0222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801368"/>
            <a:ext cx="1026871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0E1B33"/>
                </a:solidFill>
              </a:rPr>
              <a:t>Segurança detecta risco, pergunta “cancela ou continua?” — e some.</a:t>
            </a:r>
            <a:endParaRPr sz="14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E0CC479-1892-4DC2-A7F2-610F615A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54864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2BAE514-F29A-4511-8449-9AF76896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</a:rPr>
              <a:t>2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3D8A1C4-E8A0-4C53-BB6F-A7A2FBCC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761488"/>
            <a:ext cx="1026871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0E1B33"/>
                </a:solidFill>
              </a:rPr>
              <a:t>Pagamento: o cliente escolhe crédito por padrão, sem comparar.</a:t>
            </a:r>
            <a:endParaRPr sz="14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A1382C9-8129-46DA-8CE1-E062BE2A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54864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A4B420-CF7B-469E-B2DC-D7A17407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</a:rPr>
              <a:t>3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F34C91-1571-404A-9EFD-16F70564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721608"/>
            <a:ext cx="1026871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0E1B33"/>
                </a:solidFill>
              </a:rPr>
              <a:t>Investimentos: dinheiro fica parado por falta de sugestão no momento certo.</a:t>
            </a:r>
            <a:endParaRPr sz="14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9B4AE2F-42BA-46DA-BDD2-36125398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54864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6A546E3-E9DB-4291-8456-2A21A958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</a:rPr>
              <a:t>4</a:t>
            </a:r>
            <a:endParaRPr sz="2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2217A2-FF52-43A5-9E41-269E4F85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681728"/>
            <a:ext cx="1026871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0E1B33"/>
                </a:solidFill>
              </a:rPr>
              <a:t>Padrões desperdiçados: o cliente paga os mesmos boletos, gasta nos mesmos lugares — e o banco nunca usa esse histórico.</a:t>
            </a:r>
            <a:endParaRPr sz="14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162D4A8-2730-461C-A0FC-89B57B88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4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645870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BBE2CEC-0634-4F07-8377-4031E1B3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A SOLUÇÃO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5F3CF33-90C2-40B3-9FD4-3EDCBE30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APF com Engine de Padrões e Contexto (EPC)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A265BAF-F135-410A-B80A-F1ACF2CB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9F9017-58AC-49D1-B9F7-84FB463F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109728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E97FED0-48B2-405E-9464-DFD324D7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3383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B33"/>
                </a:solidFill>
              </a:rPr>
              <a:t>1. Segurança Integrada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4E0EB7-EF76-4B30-824C-DA14C683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83080"/>
            <a:ext cx="7589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Adapta ao PF o padrão já validado no PJ; valida e libera o fluxo.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7ABE40D-FFD2-4C40-A490-21BB15B5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A43AF88-7A30-4CC5-92A1-3860C1FC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109728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3F57AE1-C5C5-4A18-BC4B-291DDE45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3383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B33"/>
                </a:solidFill>
              </a:rPr>
              <a:t>2. Otimização de Pagamento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5C5D49A-092A-4BD6-96A9-9DDDA560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743200"/>
            <a:ext cx="7589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Compara formas de pagamento em tempo real; sugere a mais vantajosa.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7446AFB-2129-4937-9FCE-3B24025B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3EF1F51-4530-4258-A67D-8DD33FB6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109728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2112789-9081-434F-AB51-2C17D913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3320"/>
            <a:ext cx="3383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B33"/>
                </a:solidFill>
              </a:rPr>
              <a:t>3. Alocação Inteligente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247A4E8-0785-4A35-BD84-A11C7866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703320"/>
            <a:ext cx="7589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Detecta saldo ocioso; sugere produto de baixo risco, com pílula de conhecimento.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38AC48A-891B-4882-B761-FF476CA6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10DF177-8E6D-49BB-8CA7-8267BF0A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109728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75FF8BD-320F-47CB-8A74-CB8E7D66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3440"/>
            <a:ext cx="3383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B33"/>
                </a:solidFill>
              </a:rPr>
              <a:t>4. EPC — Antecipação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09EC962-D69B-47A4-8AF6-A13B42F9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63440"/>
            <a:ext cx="7589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Detecta recorrências (aluguel, delivery, salário) e age antes do cliente lembrar.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2A2FDC7-5705-4107-B97A-0168A65D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5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843977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38A5EC-E0E8-4F8D-804B-0B397327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ARQUITETURA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86DBA5-75CF-4CC7-B32A-935067B6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Um orquestrador, módulos especializados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13EE46D-F124-4E96-A7B9-186626EC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737360"/>
            <a:ext cx="411480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BF910A8-7A38-43ED-B26A-C35DB057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828800"/>
            <a:ext cx="3749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6600"/>
                </a:solidFill>
              </a:rPr>
              <a:t>APF — Motor Único de Orquestração</a:t>
            </a:r>
            <a:endParaRPr sz="12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D0E3017-0B82-457E-B00E-6697A5DC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194560"/>
            <a:ext cx="3749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7DCE6"/>
                </a:solidFill>
              </a:rPr>
              <a:t>NLU/LLM • roteamento de intenção • grounding • explicabilidade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54E0EED-F137-4925-8AF3-B1A2AC78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25146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2700">
            <a:solidFill>
              <a:srgbClr val="E3E5E9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2E6D004-199D-44FE-BF25-7201F1BF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2514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Módulo de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Segurança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9FE7ECF-8A6E-475D-BC90-C6CBCC34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" y="283464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15434FC-C118-463B-B4BE-BDD79CB6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46120"/>
            <a:ext cx="25146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2700">
            <a:solidFill>
              <a:srgbClr val="E3E5E9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89E91F-20B1-494E-BAE9-E168FE89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46120"/>
            <a:ext cx="2514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Módulo de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Pagamento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44F2E93-969E-408A-9689-884CF8C0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464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A3261B0-AACE-4B4C-9BA3-55FC52B8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46120"/>
            <a:ext cx="25146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2700">
            <a:solidFill>
              <a:srgbClr val="E3E5E9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4C37073-CA09-468A-8770-0DC28751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46120"/>
            <a:ext cx="2514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Módulo de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Investimento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633D634-90D3-4E1F-B4CD-3BD1CA87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220" y="283464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E08E3A9-B0E6-4143-880E-21E858E6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246120"/>
            <a:ext cx="25146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2700">
            <a:solidFill>
              <a:srgbClr val="E3E5E9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8BB43C3-3B92-4AD9-B081-7339722C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246120"/>
            <a:ext cx="2514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Módulo de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Padrões (EPC)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C31AEC7-02BF-42B6-A64D-1DC94830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140" y="283464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C554AFC-20B9-4D3A-846F-1655AB25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10908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3F05DE8-D932-4092-A7CE-0C5B51F7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1109167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1E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E1C6EC5-7593-4028-808E-F64E6F75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1054303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E1B33"/>
                </a:solidFill>
              </a:rPr>
              <a:t>Não são agentes autônomos: é um único motor com roteamento de intenção e tool-calling por módulo — a forma real como esse tipo de sistema é construído hoje.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C40FC7F-77E1-4C9C-ABAD-07551F71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110916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i="1">
                <a:solidFill>
                  <a:srgbClr val="5B6470"/>
                </a:solidFill>
              </a:rPr>
              <a:t>EPC: detecção de recorrência por agregação estatística simples (favorecido + valor + periodicidade) — não clustering, não machine learning.</a:t>
            </a:r>
            <a:endParaRPr sz="11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C14393E-FC67-438C-993C-27DEA9CD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6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168004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1AF5CC-2B92-4177-AFAB-6A541E5F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CASO DE USO #1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BB6A07-FF01-4CEE-82AA-7824AD0B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Chat de pagamento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F663808-B20B-4589-8869-FD88AE5A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338328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FEE101D-2F07-4902-83B2-C11D1A68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9659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467200A-44BD-4E07-B921-AB5994C3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19933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FFFFFF"/>
                </a:solidFill>
              </a:rPr>
              <a:t>Que contas tenho que pagar?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BD8CA29-112A-4218-BFBD-06AE405E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738FD5-C861-42D2-8863-5686AF45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791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FFFFF"/>
                </a:solidFill>
              </a:rPr>
              <a:t>SABESP (R$ 187,40, vence em 5 dias) e Vivo (R$ 129,90, vence em 7 dias). Pagar a SABESP agora?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5349DA4-1FCE-4274-95BB-7214955E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3375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7866BF6-9D9E-44F6-BCF0-84DEB73F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3649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FFFFFF"/>
                </a:solidFill>
              </a:rPr>
              <a:t>Pagar SABESP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3560737-9678-47B3-AFE2-4C21DD72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3895DC1-EDF4-47FF-91B5-5E20627B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507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FFFFF"/>
                </a:solidFill>
              </a:rPr>
              <a:t>Segurança validada. Débito (R$ 187,40) é R$ 23 mais barato que crédito. Confirmar?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1D66992-2A6A-465C-8369-1327D85B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47091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785C648-60AF-4DB3-8230-97148833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47365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FFFFFF"/>
                </a:solidFill>
              </a:rPr>
              <a:t>Sim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DFF69B7-B5AE-4752-87D0-4483B763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0"/>
            <a:ext cx="1109167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1E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2F8E29B-7727-46B3-9CA8-B3BC17B3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6600"/>
                </a:solidFill>
              </a:rPr>
              <a:t>MÉTRICA DE SUCESSO   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AD234BE-457F-453D-B8FF-D076F367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03520"/>
            <a:ext cx="83484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Redução de uso de crédito rotativo; taxa de resolução de intenção na primeira interação.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15BA6AF-05B3-4826-B175-261D44C8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7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613302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EC64781-75EC-4D1C-AF0D-5218E5F7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CASO DE USO #2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F88630B-C8F7-497B-884F-79BBC8EE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Alocação + pílula de conhecimento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047E7B4-5F42-45E3-9FAA-21042FB4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338328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523AC49-5654-4C42-A877-C6D1FBCC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4E4BE1B-B665-4139-A687-07A85D77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933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FFFFF"/>
                </a:solidFill>
              </a:rPr>
              <a:t>Detectei R$ 1.200 acima do seu padrão. Aplicar em CDB liquidez diária? Projeção: +R$ 8/mês (estimativa).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3061750-8EA5-4D7E-B18B-7300AEAD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6517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D647612-41AD-40FF-9C76-D7C3C6CA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6791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FFFFFF"/>
                </a:solidFill>
              </a:rPr>
              <a:t>Aplica 800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CB39059-3FE5-40CE-A0F1-B4FD5679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375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2C1ACF3-872B-4CCA-B18C-97DCE749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649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FFFFF"/>
                </a:solidFill>
              </a:rPr>
              <a:t>Aplicado. Renda fixa é um tipo de investimento com rendimento previsível e liquidez diária.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BE7CC78-591D-44D0-9F8F-F4B3172C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0"/>
            <a:ext cx="1109167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1E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CDE5AE7-1553-426C-AE0F-D384BFF7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6600"/>
                </a:solidFill>
              </a:rPr>
              <a:t>MÉTRICA DE SUCESSO   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B8CFB0C-707E-4352-9743-ABC9DA61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03520"/>
            <a:ext cx="83484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Volume migrado via sugestão; taxa de aceitação; engajamento com a pílula de conhecimento.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5D65023-34B5-4443-9698-CEB0D77E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8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992266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9A3639-4CD9-4563-AD6A-66E7AF23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CASO DE USO #3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ADDF6E-C788-4D0C-ABCF-4CDF6B0C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Segurança conversacional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A20F97C-85BE-42DA-AD87-18F51EDA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338328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432609C-9500-4857-8D72-C4F5700C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9659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41E4B6-3D2D-4B1C-90E1-07E76ECC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19933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FFFFFF"/>
                </a:solidFill>
              </a:rPr>
              <a:t>[Pix de R$ 2.500 para chave nova]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60ED679-3829-474F-98CD-CE32EE39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B8E3CE-351B-4F09-A533-FB3A85D4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791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FFFFF"/>
                </a:solidFill>
              </a:rPr>
              <a:t>Detectei um padrão atípico: valor alto para favorecido novo. Você conhece essa pessoa?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1FC225D-E358-4D1A-81F3-ED154028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3375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BAC434B-5D97-4D03-8B49-B760D2ED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3649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FFFFFF"/>
                </a:solidFill>
              </a:rPr>
              <a:t>[Confirma com biometria no app]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6C3F1E8-B073-4103-8A7A-8183F563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C024243-56C1-44E7-AB2A-7177E664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507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FFFFF"/>
                </a:solidFill>
              </a:rPr>
              <a:t>Liberado. Débito tem saldo suficiente e é mais barato. Quer usar?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E9B283E-9328-42F1-A55E-9437056D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0"/>
            <a:ext cx="1109167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1E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DA879B0-2DE8-4312-A9E2-69D7E278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6600"/>
                </a:solidFill>
              </a:rPr>
              <a:t>MÉTRICA DE SUCESSO   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7D13CA6-F87F-4D06-BCD3-1200598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03520"/>
            <a:ext cx="83484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Taxa de engajamento com o comparador após o fluxo de segurança.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27F73B7-D23F-4DF6-B017-4C56F8BC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9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893867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9FC020-BF21-46F6-AA14-0064FFBE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CASO DE USO #4 — O ANTECIPATÓRIO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D3CAAD-867D-452B-B649-1ECC8E97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EPC: automação e educação financeira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D63932A-044C-4176-9907-545DAB32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F0FDF56-E5ED-4B1D-9382-21874CC0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600"/>
                </a:solidFill>
              </a:rPr>
              <a:t>AUTOMAÇÃO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A2B61B0-D1FF-4907-8B80-F06DCDBD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4846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EPC detecta: Pix de R$ 1.500 para João Silva todo dia 10, há 12 meses.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E9B300C-A56A-4712-BAE4-69CD4602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71800"/>
            <a:ext cx="484632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CC0CED0-DA60-46A7-B280-AC5E6216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71800"/>
            <a:ext cx="4480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“Você paga aluguel de R$ 1.500 pra João Silva todo dia 10. Quer que eu configure o Pix Automático?”</a:t>
            </a:r>
            <a:endParaRPr sz="11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B131E2D-3647-4439-BA44-BE7F97AA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B6470"/>
                </a:solidFill>
              </a:rPr>
              <a:t>Usa o Pix Automático — mecanismo real do Banco Central, obrigatório desde out/2025 — não uma automação proprietária.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E250319-F693-45BA-BC2B-2EE8B4BB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37360"/>
            <a:ext cx="5394960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BEF54A1-8029-488E-9742-D4437CF4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2024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600"/>
                </a:solidFill>
              </a:rPr>
              <a:t>INSIGHT + EDUCAÇÃO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F43B9C9-F629-4761-80DA-FAFC49D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86000"/>
            <a:ext cx="4846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EPC detecta: R$ 45/dia em delivery no almoço, 20 dias/mês = R$ 900/mês = R$ 10.800/ano.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583DC7B-3AED-4FB4-B6FD-A775F210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71800"/>
            <a:ext cx="484632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3107D5A-6505-4C2E-9D84-B915499F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971800"/>
            <a:ext cx="4480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“Separar em caixinhas é uma técnica chamada envelope digital — você vê o progresso e evita gastar sem perceber.”</a:t>
            </a:r>
            <a:endParaRPr sz="11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A79C0F9-62EA-4CE9-BFDE-177530F2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3192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B6470"/>
                </a:solidFill>
              </a:rPr>
              <a:t>Pílula de conhecimento pré-aprovada, selecionada contextualmente — nunca gerada ao vivo pelo LLM.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3A07E04-D8D8-44A1-82C0-F20DA856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37760"/>
            <a:ext cx="11091672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1E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638C9D8-4F65-49FF-BDA1-2A80EEAE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37760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E1B33"/>
                </a:solidFill>
              </a:rPr>
              <a:t>Controle de frequência: no máximo 1 notificação proativa por categoria de padrão por dia, com opt-out — evita fadiga.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B1E81F5-818D-44BF-946E-3E6FED1F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10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864730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CC1BD28-A229-440D-83AA-9D07105F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DIFERENCIAL COMPETITIVO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265705-66DF-46E0-AE23-5DAAD10F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Por que ninguém consegue copiar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6BE0145-DE42-432B-8304-E454F4FE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26517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3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61EACBF-8313-43E1-A0DB-733A0F4C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2651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BD64C44-7FB0-4318-A1A6-6BFE0314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37360"/>
            <a:ext cx="26517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3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5A997D1-A1A4-45D8-B295-76673620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37360"/>
            <a:ext cx="2651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Bancos Digitais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A40C7A7-0AAE-4807-A986-EA49AFF6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37360"/>
            <a:ext cx="2926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3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E61A3AB-466D-4E1E-B706-83ED19E3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3736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Itaú Hoje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D36C7C-2122-458F-BF9E-D68AA590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737360"/>
            <a:ext cx="322783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6A16025-AB68-4617-990C-DD69BEBA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737360"/>
            <a:ext cx="322783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Itaú + APF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631BEF3-FF43-44B0-8A0F-15A453BE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14AE484-C2F0-4851-87A3-F58D628E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28600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0E1B33"/>
                </a:solidFill>
              </a:rPr>
              <a:t>Paradigma de interface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024DC89-BEE3-4C0E-9F6B-4478216A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8600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A06BF06-C012-4EC7-BC22-86462760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28600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Sistema de navegação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CE86A84-B83A-469E-8CFE-6E49F6C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286000"/>
            <a:ext cx="2926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ADE997B-B827-4473-9705-6B92BA63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2286000"/>
            <a:ext cx="27797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Sistema de navegação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B2816B3-55B2-4880-AAD5-BDE89AC2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286000"/>
            <a:ext cx="322783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0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F73B640-EDEB-47A6-AD9D-2C9B9791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2286000"/>
            <a:ext cx="3081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Delegação: o cliente pede, o agente resolve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682DDA9-1D2C-4F64-B53D-50224C77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094B61D-AD80-4A6A-9855-4EECEC2E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10896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0E1B33"/>
                </a:solidFill>
              </a:rPr>
              <a:t>Antecipação de necessidades</a:t>
            </a:r>
            <a:endParaRPr sz="10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49C6B61-E2A4-4F54-9F02-B09F8571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896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7F2D6AD-AB30-42B3-B036-18CC72FC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10896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Não existe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FF16F9F-063B-424B-9E69-75382217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108960"/>
            <a:ext cx="2926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A83235-7103-4A7B-9DE3-123E9D60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3108960"/>
            <a:ext cx="27797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Não existe</a:t>
            </a:r>
            <a:endParaRPr sz="10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72AB3ED-ABB1-4D52-BDF1-005ADD80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322783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0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DC7F0E5-7D24-478A-927A-F28AC657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3108960"/>
            <a:ext cx="3081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EPC detecta padrão e age antes do cliente pedir</a:t>
            </a:r>
            <a:endParaRPr sz="10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EED8782-0B27-4F32-A67F-FC0419B8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F699085-FD1A-4A3C-92EE-0E1D6030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93192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0E1B33"/>
                </a:solidFill>
              </a:rPr>
              <a:t>Segurança proativa</a:t>
            </a:r>
            <a:endParaRPr sz="10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F0A27E9-57B9-43D7-99CC-BC5D9028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3192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1323662-EB1C-48C3-ABAA-DBBEA119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93192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Reativa/regras rígidas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C1FF9EA7-B080-4DA1-90ED-D3D8B68D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931920"/>
            <a:ext cx="2926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F641807-150E-4A47-8B93-758EC6AB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3931920"/>
            <a:ext cx="27797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Comprovada no PJ, não no PF</a:t>
            </a:r>
            <a:endParaRPr sz="10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3B3EF650-3D32-4651-8266-D2B54DFD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931920"/>
            <a:ext cx="322783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0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FC1171F-D789-4C37-B306-F6B08CE2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3931920"/>
            <a:ext cx="3081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Levada ao PF, integrada à jornada</a:t>
            </a:r>
            <a:endParaRPr sz="10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6B471F9-80A2-48C2-B95D-42CBF690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E829DDB2-2887-4AA1-83AD-588F50A5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75488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0E1B33"/>
                </a:solidFill>
              </a:rPr>
              <a:t>Profundidade + histórico</a:t>
            </a:r>
            <a:endParaRPr sz="10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73D8F43C-A8CA-430E-9985-48D64395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5488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9719B9C-A0C6-42AA-BFB8-037408E3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75488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Poucos produtos, dado recente</a:t>
            </a:r>
            <a:endParaRPr sz="10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A49D6FBE-8C68-4386-A00F-BBCDBBD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754880"/>
            <a:ext cx="2926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E0FD8384-B4B4-4B1A-9FC6-D5BE8916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4754880"/>
            <a:ext cx="27797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Completa, mas fragmentada</a:t>
            </a:r>
            <a:endParaRPr sz="10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EE67FE8-0EB9-45EF-9E1C-1327126F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322783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0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998890F4-6FAD-4EDE-B30C-74FA1348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4754880"/>
            <a:ext cx="3081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Orquestrada por conversa e padrão</a:t>
            </a:r>
            <a:endParaRPr sz="105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548CBD42-5A96-49E7-9431-45844305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11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800384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B235BD-2E27-48D4-8A64-1088E63E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VIABILIDADE ECONÔMICA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8F324AC-9D25-426A-95BE-81836586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Os números do caso de negócio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81C911F-7244-45BA-A97A-5999E94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374904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DAA8520-F8F2-475E-9A76-F4B69A14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E1B33"/>
                </a:solidFill>
              </a:rPr>
              <a:t>Retenção (base existente)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DA4FC37-7682-480A-86DC-0D87B702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4846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300" b="1">
                <a:solidFill>
                  <a:srgbClr val="FF6600"/>
                </a:solidFill>
              </a:rPr>
              <a:t>8 milhões</a:t>
            </a:r>
            <a:r>
              <a:rPr sz="1200">
                <a:solidFill>
                  <a:srgbClr val="5B6470"/>
                </a:solidFill>
              </a:rPr>
              <a:t>  de clientes 18–29 anos (SAM)
</a:t>
            </a:r>
            <a:r>
              <a:rPr sz="1300" b="1">
                <a:solidFill>
                  <a:srgbClr val="FF6600"/>
                </a:solidFill>
              </a:rPr>
              <a:t>15% → 1,2 milhão</a:t>
            </a:r>
            <a:r>
              <a:rPr sz="1200">
                <a:solidFill>
                  <a:srgbClr val="5B6470"/>
                </a:solidFill>
              </a:rPr>
              <a:t>  expostos a golpe/ano
</a:t>
            </a:r>
            <a:r>
              <a:rPr sz="1300" b="1">
                <a:solidFill>
                  <a:srgbClr val="FF6600"/>
                </a:solidFill>
              </a:rPr>
              <a:t>25% → 300 mil</a:t>
            </a:r>
            <a:r>
              <a:rPr sz="1200">
                <a:solidFill>
                  <a:srgbClr val="5B6470"/>
                </a:solidFill>
              </a:rPr>
              <a:t>  em risco de churn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F8D6B2F-6531-4335-8209-90B5794E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48463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9CF0C0C-114E-4969-B4D9-60092953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38728"/>
            <a:ext cx="4480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7DCE6"/>
                </a:solidFill>
              </a:rPr>
              <a:t>Piso conservador (CAC evitado)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F743A5F-145E-4918-8142-C3A43F8F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94760"/>
            <a:ext cx="4480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6600"/>
                </a:solidFill>
              </a:rPr>
              <a:t>R$ 75 milhões/ano</a:t>
            </a:r>
            <a:endParaRPr sz="2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9350394-5DF3-4B18-B22D-241A9A07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4846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5B6470"/>
                </a:solidFill>
              </a:rPr>
              <a:t>Piso conservador — valor real via LTV tende a ser maior.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A6D091B-CDFE-403F-A796-02AC2B92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374904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C2B2CE7-D666-4F27-A083-1A0199A0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E1B33"/>
                </a:solidFill>
              </a:rPr>
              <a:t>Engajamento e automações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39BA874-7ECB-49FA-A359-8B543F0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86000"/>
            <a:ext cx="4846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300" b="1">
                <a:solidFill>
                  <a:srgbClr val="FF6600"/>
                </a:solidFill>
              </a:rPr>
              <a:t>480 mil</a:t>
            </a:r>
            <a:r>
              <a:rPr sz="1200">
                <a:solidFill>
                  <a:srgbClr val="5B6470"/>
                </a:solidFill>
              </a:rPr>
              <a:t>  usam comparador — R$ 180/ano
</a:t>
            </a:r>
            <a:r>
              <a:rPr sz="1300" b="1">
                <a:solidFill>
                  <a:srgbClr val="FF6600"/>
                </a:solidFill>
              </a:rPr>
              <a:t>240 mil</a:t>
            </a:r>
            <a:r>
              <a:rPr sz="1200">
                <a:solidFill>
                  <a:srgbClr val="5B6470"/>
                </a:solidFill>
              </a:rPr>
              <a:t>  novos investidores — R$ 1.500 ticket
</a:t>
            </a:r>
            <a:r>
              <a:rPr sz="1300" b="1">
                <a:solidFill>
                  <a:srgbClr val="FF6600"/>
                </a:solidFill>
              </a:rPr>
              <a:t>480 mil</a:t>
            </a:r>
            <a:r>
              <a:rPr sz="1200">
                <a:solidFill>
                  <a:srgbClr val="5B6470"/>
                </a:solidFill>
              </a:rPr>
              <a:t>  adotam Pix Automático/caixinha (EPC)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23FF923-8A6E-4798-BFB8-33D8E053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474720"/>
            <a:ext cx="48463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7D87F02-8932-41C6-A82A-EB7CC580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538728"/>
            <a:ext cx="4480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7DCE6"/>
                </a:solidFill>
              </a:rPr>
              <a:t>Receita recorrente estimada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C1D2BF5-8D33-4CC3-AA51-7A32D866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794760"/>
            <a:ext cx="4480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6600"/>
                </a:solidFill>
              </a:rPr>
              <a:t>R$ 2,88 milhões/ano</a:t>
            </a:r>
            <a:endParaRPr sz="2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F26F66F-C1E4-47B1-848E-D2B413AF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0560"/>
            <a:ext cx="4846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5B6470"/>
                </a:solidFill>
              </a:rPr>
              <a:t>0,8% a.a. de spread é premissa ilustrativa a validar com o Itaú.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08424C7-C24B-4131-8351-434D740F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23560"/>
            <a:ext cx="11091672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1E0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775CF24-1A2C-4204-9BFB-B5339E05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23560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E1B33"/>
                </a:solidFill>
              </a:rPr>
              <a:t>Investimento MVP: </a:t>
            </a:r>
            <a:r>
              <a:rPr sz="1300">
                <a:solidFill>
                  <a:srgbClr val="0E1B33"/>
                </a:solidFill>
              </a:rPr>
              <a:t>R$ 2–4 milhões      </a:t>
            </a:r>
            <a:r>
              <a:rPr sz="1300" b="1">
                <a:solidFill>
                  <a:srgbClr val="0E1B33"/>
                </a:solidFill>
              </a:rPr>
              <a:t>Payback estimado: </a:t>
            </a:r>
            <a:r>
              <a:rPr sz="1300">
                <a:solidFill>
                  <a:srgbClr val="0E1B33"/>
                </a:solidFill>
              </a:rPr>
              <a:t>12–18 meses (conservador)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9D68FE4-8F25-4EA9-8EC7-8C97B103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5763061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ED0947-92D6-4E01-B21C-163366E5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REGULATÓRIO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545B5D-89E4-48F0-AAD9-EDEB98EB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O momento é agora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D93C04-6AD3-4C9E-A237-B7433271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520440" cy="310896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DDF4202-AA23-4913-A05E-EC18C0EF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52044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406BAE1-D1FA-4AF1-871E-44B84051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0E1B33"/>
                </a:solidFill>
              </a:rPr>
              <a:t>MED 2.0</a:t>
            </a:r>
            <a:endParaRPr sz="16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AE70CD0-A6CA-458B-87EB-C331DD14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80"/>
            <a:ext cx="297180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Obrigatório desde fev/2026. Responsabilidade direta do banco na devolução em casos de fraude no Pix.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FFBAB35-61C3-4FFD-995D-B00953BA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3520440" cy="310896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6B7A834-113F-42A4-A73C-6F045744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352044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462D321-33A9-4915-841C-7D88E717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103120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0E1B33"/>
                </a:solidFill>
              </a:rPr>
              <a:t>Pix Automático</a:t>
            </a:r>
            <a:endParaRPr sz="16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C82FC45-667E-42B7-9FDF-70C04EE0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97480"/>
            <a:ext cx="297180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Lançado pelo BC em jun/2025, obrigatório desde out/2025 — base real para a automação de recorrência do EPC.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AE7B04D-B62A-4C2D-AE5C-90815DFC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828800"/>
            <a:ext cx="3520440" cy="310896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F0BDA4B-7E91-42D2-8BFC-56C06390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828800"/>
            <a:ext cx="352044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9EC19C2-33F4-43F0-9214-EE1FDB16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103120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0E1B33"/>
                </a:solidFill>
              </a:rPr>
              <a:t>Suitability (CVM)</a:t>
            </a:r>
            <a:endParaRPr sz="16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70E01F3-1C8A-4EEB-8F23-A2190F54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697480"/>
            <a:ext cx="297180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Sugestão de investimento restrita a produtos de baixíssimo risco; projeção sempre estimada, nunca promessa.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7D0F058-D15B-469B-9DBE-2A9413FF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C4441C4-D18A-42EA-8D9A-75735C5C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30952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0E1B33"/>
                </a:solidFill>
              </a:rPr>
              <a:t>O Itaú tem incentivo jurídico, reputacional e de retenção para investir na orquestração completa.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4B0384-D0CA-4C27-AA97-46DEA98B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6581725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EA7C9F-E527-410B-A2A2-DD4FF0D0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GOVERNANÇA E CONFORMIDADE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766DD1-8618-4CB1-83F8-A83FCF50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Regras que o EPC nunca quebra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34FBA6D-F858-4D2E-A81E-617A184C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553212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452E521-9D6E-4C65-AEF4-FB2A3321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38528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6600"/>
                </a:solidFill>
              </a:rPr>
              <a:t>Suitability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187C96-DE13-45BF-8944-8D9AFD75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31720"/>
            <a:ext cx="5074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E1B33"/>
                </a:solidFill>
              </a:rPr>
              <a:t>Só sugere produtos de baixíssimo risco e liquidez diária. Produto mais complexo fica fora do escopo automático.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DF7F07C-6F25-4D4E-BE0F-0AC1FFC1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28800"/>
            <a:ext cx="553212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AB258ED-8E97-4499-A06C-F2FBD577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938528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6600"/>
                </a:solidFill>
              </a:rPr>
              <a:t>Projeção, não promessa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AC23E82-1CE9-417C-99F2-8BE8BA6D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331720"/>
            <a:ext cx="5074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E1B33"/>
                </a:solidFill>
              </a:rPr>
              <a:t>Toda estimativa de rendimento é ilustrativa, com disclaimer — nunca valor garantido.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98D3E22-BB96-4484-A98A-3DE6565A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553212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201670D-EA43-4243-9E39-DA7384DF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01568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6600"/>
                </a:solidFill>
              </a:rPr>
              <a:t>Consentimento granular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CDF011F-02C9-4BA2-9AD5-D1C30491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5074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E1B33"/>
                </a:solidFill>
              </a:rPr>
              <a:t>Cliente autoriza por categoria de análise comportamental — não um checkbox único genérico.</a:t>
            </a:r>
            <a:endParaRPr sz="10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5A29272-8C4D-48D2-8453-CDB816B3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291840"/>
            <a:ext cx="553212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7D3B026-392E-4155-8B75-FC360DAA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401568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6600"/>
                </a:solidFill>
              </a:rPr>
              <a:t>Frequência controlada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F72C1B5-543F-462C-8E47-D124BDBE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794760"/>
            <a:ext cx="5074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E1B33"/>
                </a:solidFill>
              </a:rPr>
              <a:t>Máximo 1 notificação proativa por categoria de padrão por dia, com opt-out — evita fadiga.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872F0AF-EDF8-4701-B2E5-2BF231DD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0"/>
            <a:ext cx="553212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1D9C6A8-81FA-4240-814F-9F861257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64608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6600"/>
                </a:solidFill>
              </a:rPr>
              <a:t>Conteúdo pré-aprovado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E649B09-8F94-4855-B129-FF8D5857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5074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E1B33"/>
                </a:solidFill>
              </a:rPr>
              <a:t>Pílulas de conhecimento são um conjunto fixo, curado — nunca geradas ao vivo pelo LLM.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AB2A19E-DF46-4F35-8073-4C0ADDB8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14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4429330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829E80-FA9F-411F-8AE7-58930FD6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PLANO DE IMPLEMENTAÇÃO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BEF58A-8DCC-44DD-8CE3-9B78ECF8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Duas propostas, dois apetites de inovação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405FBA-1F1F-490B-A240-7176189B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394960" cy="356616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E0014DC-9A5F-442A-9B80-4CDC333B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39496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2A4A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E673E3E-4859-4DB8-8164-E9504A5E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1168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A4A"/>
                </a:solidFill>
              </a:rPr>
              <a:t>CONSERVADORA — CHAT NO APP ITAÚ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85FDF88-6036-45CD-B173-521125EE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• Ambiente 100% controlado pelo banco — mesma sessão autenticada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6442A67-BC63-47C7-BDAD-DCCDE8CF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72968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• Execução completa: qualquer ação confirma na própria conversa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E612965-21D3-4F09-B541-9CF8C026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31336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• Sem dependência de aprovação de terceiros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CA40422-A6AF-48C1-9A84-7C19DAC6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9704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• Menor risco regulatório — caminho de adoção mais imediata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E3A5B4A-DCD9-49B9-A20F-24E3AADD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83080"/>
            <a:ext cx="5394960" cy="356616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6677D97-5291-4922-B3B9-531B5F50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83080"/>
            <a:ext cx="539496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C1F0F29-01E5-496D-BDD4-7BC68D8C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1168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600"/>
                </a:solidFill>
              </a:rPr>
              <a:t>ARROJADA — BOT EM MENSAGEIRO (TELEGRAM → WHATSAPP)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331E1A8-666A-43B4-8489-5A69C1AA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14600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8ECF3"/>
                </a:solidFill>
              </a:rPr>
              <a:t>• Encontra o cliente onde ele já passa o dia</a:t>
            </a:r>
            <a:endParaRPr sz="11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6D0D6C-7A8D-4AB8-A70E-2917F7D3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172968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8ECF3"/>
                </a:solidFill>
              </a:rPr>
              <a:t>• Protótipo em Telegram representa o padrão de WhatsApp em produção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A5A0519-0D65-4EC3-A9DF-3820375F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831336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8ECF3"/>
                </a:solidFill>
              </a:rPr>
              <a:t>• Ação de dinheiro sempre reabre o app via deep link, com biometria</a:t>
            </a:r>
            <a:endParaRPr sz="11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EFA49B1-0EC1-4106-83EA-C0E14C1A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9704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8ECF3"/>
                </a:solidFill>
              </a:rPr>
              <a:t>• WhatsApp em produção depende de aprovação comercial da Meta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284B8E6-E0C5-441B-8D31-2F9747C2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D04E466-083F-4458-8ACE-12EF4ACA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05272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0E1B33"/>
                </a:solidFill>
              </a:rPr>
              <a:t>Mesma arquitetura do APF nos dois casos — muda só onde a conversa acontece. A escolha cabe ao Itaú.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638D3FD-9218-411D-ABC4-2BC5A22A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15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08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07D47E3-0A27-475E-996C-B467FCE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82296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rgbClr val="FF6600"/>
                </a:solidFill>
              </a:rPr>
              <a:t>PROTÓTIPOS — AS DUAS PROPOSTAS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9A10A7-5C3F-43E9-97B7-93A52F5C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72591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</a:rPr>
              <a:t>O que vocês vão ver agora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60C4899-1B79-4829-8921-8339206D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1072591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4345A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385CC8E-0A1E-45B1-9212-49250EF2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8880"/>
            <a:ext cx="548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6600"/>
                </a:solidFill>
              </a:rPr>
              <a:t>1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C1E0EE-FFC7-479F-81F3-321CE447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468880"/>
            <a:ext cx="97200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</a:rPr>
              <a:t>Conservadora — chat no app (Flutter): pagamento respondido dentro do próprio app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B4C2E83-BBA6-48AF-B07C-AA598B49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29000"/>
            <a:ext cx="1072591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4345A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881CC6-A645-4AE1-8E72-32E11DA1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548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6600"/>
                </a:solidFill>
              </a:rPr>
              <a:t>2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ACB879E-C437-47A9-967C-DFC0C96B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29000"/>
            <a:ext cx="97200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</a:rPr>
              <a:t>Arrojada — bot no Telegram, representando WhatsApp: o mesmo fluxo, onde o cliente já está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3BCE427-5EE3-475A-AAF6-048F725F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89120"/>
            <a:ext cx="1072591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4345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3F55EE8-6F2A-44D6-97AC-918E0932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9120"/>
            <a:ext cx="548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6600"/>
                </a:solidFill>
              </a:rPr>
              <a:t>3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F433AAE-6533-4282-A633-49A0B47B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389120"/>
            <a:ext cx="97200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</a:rPr>
              <a:t>Comparador de pagamento em rich card, nos dois protótipos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C36EC26-86A5-4F34-AF66-73E95280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1072591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4345A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3033A5B-D78E-4EAA-9279-6708E920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9240"/>
            <a:ext cx="548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6600"/>
                </a:solidFill>
              </a:rPr>
              <a:t>4</a:t>
            </a:r>
            <a:endParaRPr sz="2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533FC0-5F79-40AB-94CF-EE649592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349240"/>
            <a:ext cx="97200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</a:rPr>
              <a:t>EPC ao vivo: detecção de padrão de aluguel e sugestão de Pix Automático, com dados sintéticos representativos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3425910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3437C31-42C3-4A67-BBBC-1708E2B0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FECHAMENTO DO CASO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0B8662D-4986-46EC-A830-5E202134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Por que o Itaú vence com isso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35FF318-1EFF-4E4A-9EBF-122AFE07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534924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7BB65B0-3B9F-4E4C-B8A0-9F9C41C9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1168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FF6600"/>
                </a:solidFill>
              </a:rPr>
              <a:t>Retenção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B0ADC38-46CC-44C8-962F-CC79A68A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4800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Até 300 mil clientes jovens por ano protegidos do churn por fraude (piso conservador).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07E890D-80BF-4718-B6F3-24865690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534924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FFCD0E8-FC22-4CF6-94B4-CE305658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1168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FF6600"/>
                </a:solidFill>
              </a:rPr>
              <a:t>Engajamento</a:t>
            </a:r>
            <a:endParaRPr sz="15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B81EE17-DBF5-4BC2-AED0-CBFB4C6E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14600"/>
            <a:ext cx="4800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Produtos de margem mais alta via sugestão contextual e automação — não marketing push.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18E4553-DF8B-460F-9F34-4CC2E9BA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534924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D8BE917-63A5-4B4C-BC09-DCCFEECB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FF6600"/>
                </a:solidFill>
              </a:rPr>
              <a:t>Risco jurídico e regulatório</a:t>
            </a:r>
            <a:endParaRPr sz="15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BD2EA7-0EE4-4211-9821-00919D32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4800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Mitigação de responsabilidade objetiva; suitability e frequência de notificação já governadas.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92944E1-E5D2-4F90-B81C-E92146BE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4760"/>
            <a:ext cx="534924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E75DB2D-B736-480E-91C9-42F4BD55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97764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FF6600"/>
                </a:solidFill>
              </a:rPr>
              <a:t>Antecipação real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A1BF24-54FA-4BEA-8D4F-A6A22DD6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480560"/>
            <a:ext cx="4800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EPC entrega o que o edital pede literalmente: antecipar necessidades, não só responder.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4225CBA-3523-42F5-8904-4F50F4E4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5A55CD0-8042-4141-AB44-2D8E2770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62472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0E1B33"/>
                </a:solidFill>
              </a:rPr>
              <a:t>Não é mais um app que você usa. É um agente que aprende com você, avisa antes e te ensina no momento certo.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DE11367-A1ED-4109-85BE-B1B5598C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17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7682891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94F87F-60A5-44BA-833F-A34B38B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APÊNDICE — BACKUP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26C1C86-ECBE-4A5F-A5CB-36F2FCB1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Perguntas antecipadas da banca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DDA44D-F306-4268-A840-058F2A4F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5486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1B33"/>
                </a:solidFill>
              </a:rPr>
              <a:t>“O Itaú já tem Alerta Pix etc. para pessoa física?”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6436304-16D4-476A-BE8A-4D43DECE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5486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470"/>
                </a:solidFill>
              </a:rPr>
              <a:t>O lançamento oficial de agosto de 2025 foi para PJ. Nossa proposta leva esse padrão ao PF.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8DCB4C5-172F-4FB8-8FA3-7D1FCD6E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37560"/>
            <a:ext cx="5486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1B33"/>
                </a:solidFill>
              </a:rPr>
              <a:t>“Como vocês evitam prometer rendimento de investimento?”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34F1A2C-58BA-4E62-B685-8B64959F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5486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470"/>
                </a:solidFill>
              </a:rPr>
              <a:t>Só sugerimos produtos de baixíssimo risco; toda projeção é estimativa com disclaimer, nunca promessa — suitability CVM respeitada.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EC2621F-E350-4BF3-8166-BBD22296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5486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1B33"/>
                </a:solidFill>
              </a:rPr>
              <a:t>“O agente não vai virar spam de notificação?”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A674375-9A92-4AD1-9B80-AADE24C5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9240"/>
            <a:ext cx="5486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470"/>
                </a:solidFill>
              </a:rPr>
              <a:t>Máximo 1 notificação proativa por categoria de padrão por dia, com opt-out granular.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E93710-779E-4D05-B1C6-EE5090D9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28800"/>
            <a:ext cx="5486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1B33"/>
                </a:solidFill>
              </a:rPr>
              <a:t>“Os dados do protótipo são reais?”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0C7C2C4-43AB-4F1E-A87F-3F240E6F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31720"/>
            <a:ext cx="5486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470"/>
                </a:solidFill>
              </a:rPr>
              <a:t>São dados sintéticos realistas, gerados para representar o comportamento típico do público-alvo — não há acesso a API de produção do Itaú, o que exigiria credenciamento formal como instituição participante.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BCB4746-C695-49FD-B524-655C67C3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37560"/>
            <a:ext cx="5486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1B33"/>
                </a:solidFill>
              </a:rPr>
              <a:t>“Por que módulos e não agentes autônomos?”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CFEE1AB-096A-4C34-B050-BCCF7265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840480"/>
            <a:ext cx="5486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470"/>
                </a:solidFill>
              </a:rPr>
              <a:t>É mais honesto tecnicamente: um único motor com roteamento de intenção e tool-calling, não processos autônomos independentes.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C49BD28-0B16-4CB9-A79F-FE2D4549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18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7445771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2026-08-30T00:12:03.5380000Z</dcterms:created>
  <dcterms:modified xsi:type="dcterms:W3CDTF">2026-08-30T00:12:03.5380000Z</dcterms:modified>
</coreProperties>
</file>