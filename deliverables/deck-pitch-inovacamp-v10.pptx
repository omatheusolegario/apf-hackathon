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ef652625ed84d58" /><Relationship Type="http://schemas.openxmlformats.org/officeDocument/2006/relationships/extended-properties" Target="/docProps/app.xml" Id="R76c2ee587839451e" /><Relationship Type="http://schemas.openxmlformats.org/officeDocument/2006/relationships/officeDocument" Target="/ppt/presentation.xml" Id="R7660439cae9d482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60802ec8798452e"/>
  </p:sldMasterIdLst>
  <p:notesMasterIdLst>
    <p:notesMasterId xmlns:r="http://schemas.openxmlformats.org/officeDocument/2006/relationships" r:id="Rfb21966daf0840a9"/>
  </p:notesMasterIdLst>
  <p:sldIdLst>
    <p:sldId xmlns:r="http://schemas.openxmlformats.org/officeDocument/2006/relationships" id="256" r:id="R93171f71fb9a47cb"/>
    <p:sldId xmlns:r="http://schemas.openxmlformats.org/officeDocument/2006/relationships" id="257" r:id="R127aa147e7204750"/>
    <p:sldId xmlns:r="http://schemas.openxmlformats.org/officeDocument/2006/relationships" id="258" r:id="Re8b503b8677d4fc4"/>
    <p:sldId xmlns:r="http://schemas.openxmlformats.org/officeDocument/2006/relationships" id="259" r:id="Rd1818f3d3b5b49ae"/>
    <p:sldId xmlns:r="http://schemas.openxmlformats.org/officeDocument/2006/relationships" id="260" r:id="R9b6f6aeeef114935"/>
    <p:sldId xmlns:r="http://schemas.openxmlformats.org/officeDocument/2006/relationships" id="261" r:id="Rb4c816bc7f7345de"/>
    <p:sldId xmlns:r="http://schemas.openxmlformats.org/officeDocument/2006/relationships" id="262" r:id="R0b281ebc894f4ee8"/>
    <p:sldId xmlns:r="http://schemas.openxmlformats.org/officeDocument/2006/relationships" id="263" r:id="R8f63d788004e456c"/>
    <p:sldId xmlns:r="http://schemas.openxmlformats.org/officeDocument/2006/relationships" id="264" r:id="Rc75baeed95ad4bbd"/>
    <p:sldId xmlns:r="http://schemas.openxmlformats.org/officeDocument/2006/relationships" id="265" r:id="R1461ab0edd194000"/>
    <p:sldId xmlns:r="http://schemas.openxmlformats.org/officeDocument/2006/relationships" id="266" r:id="R3f47789585674853"/>
    <p:sldId xmlns:r="http://schemas.openxmlformats.org/officeDocument/2006/relationships" id="267" r:id="Re579035e9cbc4c4e"/>
    <p:sldId xmlns:r="http://schemas.openxmlformats.org/officeDocument/2006/relationships" id="268" r:id="R3e9bea59e2db44c2"/>
    <p:sldId xmlns:r="http://schemas.openxmlformats.org/officeDocument/2006/relationships" id="269" r:id="Rc97ae016db574b04"/>
    <p:sldId xmlns:r="http://schemas.openxmlformats.org/officeDocument/2006/relationships" id="270" r:id="R93e5128032734a4d"/>
    <p:sldId xmlns:r="http://schemas.openxmlformats.org/officeDocument/2006/relationships" id="271" r:id="R9287ec8d7db2441d"/>
    <p:sldId xmlns:r="http://schemas.openxmlformats.org/officeDocument/2006/relationships" id="272" r:id="Rae208d94bbb1472b"/>
    <p:sldId xmlns:r="http://schemas.openxmlformats.org/officeDocument/2006/relationships" id="273" r:id="Rf3bf8865e706476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4531172fc6540ba" /><Relationship Type="http://schemas.openxmlformats.org/officeDocument/2006/relationships/slideMaster" Target="/ppt/slideMasters/slideMaster1.xml" Id="Rb60802ec8798452e" /><Relationship Type="http://schemas.openxmlformats.org/officeDocument/2006/relationships/notesMaster" Target="/ppt/notesMasters/notesMaster1.xml" Id="Rfb21966daf0840a9" /><Relationship Type="http://schemas.openxmlformats.org/officeDocument/2006/relationships/presProps" Target="/ppt/presProps.xml" Id="R20aafaa07c534794" /><Relationship Type="http://schemas.openxmlformats.org/officeDocument/2006/relationships/viewProps" Target="/ppt/viewProps.xml" Id="R2709bbcd28284025" /><Relationship Type="http://schemas.openxmlformats.org/officeDocument/2006/relationships/tableStyles" Target="/ppt/tableStyles.xml" Id="R38e9ae6b37d14688" /><Relationship Type="http://schemas.openxmlformats.org/officeDocument/2006/relationships/slide" Target="/ppt/slides/slide1.xml" Id="R93171f71fb9a47cb" /><Relationship Type="http://schemas.openxmlformats.org/officeDocument/2006/relationships/slide" Target="/ppt/slides/slide2.xml" Id="R127aa147e7204750" /><Relationship Type="http://schemas.openxmlformats.org/officeDocument/2006/relationships/slide" Target="/ppt/slides/slide3.xml" Id="Re8b503b8677d4fc4" /><Relationship Type="http://schemas.openxmlformats.org/officeDocument/2006/relationships/slide" Target="/ppt/slides/slide4.xml" Id="Rd1818f3d3b5b49ae" /><Relationship Type="http://schemas.openxmlformats.org/officeDocument/2006/relationships/slide" Target="/ppt/slides/slide5.xml" Id="R9b6f6aeeef114935" /><Relationship Type="http://schemas.openxmlformats.org/officeDocument/2006/relationships/slide" Target="/ppt/slides/slide6.xml" Id="Rb4c816bc7f7345de" /><Relationship Type="http://schemas.openxmlformats.org/officeDocument/2006/relationships/slide" Target="/ppt/slides/slide7.xml" Id="R0b281ebc894f4ee8" /><Relationship Type="http://schemas.openxmlformats.org/officeDocument/2006/relationships/slide" Target="/ppt/slides/slide8.xml" Id="R8f63d788004e456c" /><Relationship Type="http://schemas.openxmlformats.org/officeDocument/2006/relationships/slide" Target="/ppt/slides/slide9.xml" Id="Rc75baeed95ad4bbd" /><Relationship Type="http://schemas.openxmlformats.org/officeDocument/2006/relationships/slide" Target="/ppt/slides/slide10.xml" Id="R1461ab0edd194000" /><Relationship Type="http://schemas.openxmlformats.org/officeDocument/2006/relationships/slide" Target="/ppt/slides/slide11.xml" Id="R3f47789585674853" /><Relationship Type="http://schemas.openxmlformats.org/officeDocument/2006/relationships/slide" Target="/ppt/slides/slide12.xml" Id="Re579035e9cbc4c4e" /><Relationship Type="http://schemas.openxmlformats.org/officeDocument/2006/relationships/slide" Target="/ppt/slides/slide13.xml" Id="R3e9bea59e2db44c2" /><Relationship Type="http://schemas.openxmlformats.org/officeDocument/2006/relationships/slide" Target="/ppt/slides/slide14.xml" Id="Rc97ae016db574b04" /><Relationship Type="http://schemas.openxmlformats.org/officeDocument/2006/relationships/slide" Target="/ppt/slides/slide15.xml" Id="R93e5128032734a4d" /><Relationship Type="http://schemas.openxmlformats.org/officeDocument/2006/relationships/slide" Target="/ppt/slides/slide16.xml" Id="R9287ec8d7db2441d" /><Relationship Type="http://schemas.openxmlformats.org/officeDocument/2006/relationships/slide" Target="/ppt/slides/slide17.xml" Id="Rae208d94bbb1472b" /><Relationship Type="http://schemas.openxmlformats.org/officeDocument/2006/relationships/slide" Target="/ppt/slides/slide18.xml" Id="Rf3bf8865e706476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b89267d0f5b438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2a0a27c5ced443f" /><Relationship Type="http://schemas.openxmlformats.org/officeDocument/2006/relationships/notesMaster" Target="/ppt/notesMasters/notesMaster1.xml" Id="Rd55fd2607f36498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7b3a8c5cd384362" /><Relationship Type="http://schemas.openxmlformats.org/officeDocument/2006/relationships/notesMaster" Target="/ppt/notesMasters/notesMaster1.xml" Id="R968171c4429a4d4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99949726c474a01" /><Relationship Type="http://schemas.openxmlformats.org/officeDocument/2006/relationships/notesMaster" Target="/ppt/notesMasters/notesMaster1.xml" Id="Re845ce90f5394cf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796b607ea9442bb" /><Relationship Type="http://schemas.openxmlformats.org/officeDocument/2006/relationships/notesMaster" Target="/ppt/notesMasters/notesMaster1.xml" Id="Rd3a7f75f51cf45d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663bb42c34f49a6" /><Relationship Type="http://schemas.openxmlformats.org/officeDocument/2006/relationships/notesMaster" Target="/ppt/notesMasters/notesMaster1.xml" Id="R94446f9ed0d74c9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eeb440f19c645bf" /><Relationship Type="http://schemas.openxmlformats.org/officeDocument/2006/relationships/notesMaster" Target="/ppt/notesMasters/notesMaster1.xml" Id="Rb75f41b58bfb463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e9f663f0683462f" /><Relationship Type="http://schemas.openxmlformats.org/officeDocument/2006/relationships/notesMaster" Target="/ppt/notesMasters/notesMaster1.xml" Id="R0d430080f4ce46a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5b3cce5b6e94bfb" /><Relationship Type="http://schemas.openxmlformats.org/officeDocument/2006/relationships/notesMaster" Target="/ppt/notesMasters/notesMaster1.xml" Id="Rdccd9301b12341c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51641dfe3434d35" /><Relationship Type="http://schemas.openxmlformats.org/officeDocument/2006/relationships/notesMaster" Target="/ppt/notesMasters/notesMaster1.xml" Id="R3ab6a022139f463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7fd48472db64092" /><Relationship Type="http://schemas.openxmlformats.org/officeDocument/2006/relationships/notesMaster" Target="/ppt/notesMasters/notesMaster1.xml" Id="Rbb932186bfde468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4a731f99c154a0f" /><Relationship Type="http://schemas.openxmlformats.org/officeDocument/2006/relationships/notesMaster" Target="/ppt/notesMasters/notesMaster1.xml" Id="Refe82ebe95514f5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134d0e026504972" /><Relationship Type="http://schemas.openxmlformats.org/officeDocument/2006/relationships/notesMaster" Target="/ppt/notesMasters/notesMaster1.xml" Id="Rfb578649d11b49a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a93b0fceceb4709" /><Relationship Type="http://schemas.openxmlformats.org/officeDocument/2006/relationships/notesMaster" Target="/ppt/notesMasters/notesMaster1.xml" Id="R935183893a154ff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f23c069611f4a0a" /><Relationship Type="http://schemas.openxmlformats.org/officeDocument/2006/relationships/notesMaster" Target="/ppt/notesMasters/notesMaster1.xml" Id="R59a3a7f3312c478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561a262386441e3" /><Relationship Type="http://schemas.openxmlformats.org/officeDocument/2006/relationships/notesMaster" Target="/ppt/notesMasters/notesMaster1.xml" Id="R5b9d9e3c4a974f59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ac1926682afc4453" /><Relationship Type="http://schemas.openxmlformats.org/officeDocument/2006/relationships/notesMaster" Target="/ppt/notesMasters/notesMaster1.xml" Id="Rb7e266cd7c0e48d3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f8c397d0bf2645b0" /><Relationship Type="http://schemas.openxmlformats.org/officeDocument/2006/relationships/notesMaster" Target="/ppt/notesMasters/notesMaster1.xml" Id="Rd1c1d73de7884935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252d37d25c874a42" /><Relationship Type="http://schemas.openxmlformats.org/officeDocument/2006/relationships/notesMaster" Target="/ppt/notesMasters/notesMaster1.xml" Id="R95b5df5b1ac4478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Propomos um Assistente Pessoal Financeiro com Engine de Padrões: entende linguagem natural, orquestra o ecossistema Itaú, e aprende com o histórico de cada cliente para antecipar necessidades — literalmente o que o objetivo do desafio pede.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Apps ainda são sistemas de navegação. Um assistente conversacional muda para delegação: o cliente pede. Mas vamos além — o agente aprende os padrões do cliente e antecipa, o que é literalmente o texto do objetivo do desafio.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 Itaú tem produto e tem dado histórico — o que falta é orquestração. Já provou que segurança proativa funciona no PJ; a oportunidade é levar isso ao PF e conectar com o resto.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Quatro camadas quebradas: segurança que some, pagamento sem comparação, investimento sem sugestão, e — a mais nova — décadas de padrão de comportamento que o banco simplesmente ignora.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Quatro pilares. Os três primeiros já discutidos antes; o EPC é a novidade — motor de detecção de padrão que transforma histórico em antecipação real.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Um único motor de orquestração, não múltiplos agentes autônomos — isso é mais honesto tecnicamente. O EPC detecta padrão com agregação SQL simples, sem inflar como 'clustering' ou 'machine learning' quando é contagem de recorrência com limiar de confiança.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Maria pergunta o que precisa pagar. O agente já validou a segurança e já comparou as formas de pagamento — tudo numa conversa.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sugestão sempre aparece como projeção estimada, nunca promessa, e só para produto de baixíssimo risco — sem exigir perfil de investidor complexo. A pílula de conhecimento é conteúdo pré-aprovado, não gerado pelo LLM.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segurança não termina no cancelar/continuar — depois de validar, o agente avança automaticamente para a otimização, na mesma conversa.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Esse é o caso que mais responde ao texto literal do edital: 'capaz de antecipar necessidades'. Duas faces do mesmo EPC — automação de recorrência via Pix Automático (mecanismo real do BC) e insight de economia com educação contextual. Sempre com limite de frequência pra não virar spam.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Não competimos com os digitais na simplicidade — competimos no paradigma de interface e na antecipação de necessidades, que exigem profundidade de produto e histórico de dados que só o Itaú tem.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Piso de retenção conservador, receita de engajamento reforçada agora pelas automações do EPC. Payback de 12 a 18 meses, deliberadamente cauteloso.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 regulatório favorável: MED 2.0 endurece devolução, Pix Automático já é a base real da automação que propomos, e suitability CVM está explicitamente respeitada — não prometemos rendimento, sugerimos só produto de baixo risco.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Governança explícita: suitability respeitada, nunca prometemos rendimento, consentimento é granular por categoria, notificação tem teto diário, e conteúdo educacional é pré-aprovado, não gerado ao vivo. Isso é o que separa um protótipo ingênuo de uma proposta que um banco pode realmente levar adiante.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Construímos duas propostas funcionais, não uma só. Conservadora dentro do app, arrojada num bot de mensageiro — a mesma arquitetura por trás das duas.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Demonstração ao vivo das duas propostas, incluindo o EPC detectando um padrão com dados sintéticos realistas.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Retenção, engajamento, risco jurídico mitigado, e antecipação real — o que o edital pede no texto. Conectar o que o Itaú já tem. Antecipar o que ninguém mais consegue.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de apoio — usar apenas se a pergunta vier na rodada de perguntas.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0fe4552b37b4bbd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2cdca3d048f4f06" /><Relationship Type="http://schemas.openxmlformats.org/officeDocument/2006/relationships/slideLayout" Target="/ppt/slideLayouts/slideLayout1.xml" Id="Re9dab7b68cf34521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9dab7b68cf34521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d02b709d0a4ee9" /><Relationship Type="http://schemas.openxmlformats.org/officeDocument/2006/relationships/notesSlide" Target="/ppt/notesSlides/notesSlide1.xml" Id="R73af8d7bc5124d0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d14afbcc664f46" /><Relationship Type="http://schemas.openxmlformats.org/officeDocument/2006/relationships/notesSlide" Target="/ppt/notesSlides/notesSlide2.xml" Id="R5a23fffa06434f9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e29ae711ba4bda" /><Relationship Type="http://schemas.openxmlformats.org/officeDocument/2006/relationships/notesSlide" Target="/ppt/notesSlides/notesSlide3.xml" Id="R8f58e6a5639740d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7a2bf29f6d48d3" /><Relationship Type="http://schemas.openxmlformats.org/officeDocument/2006/relationships/notesSlide" Target="/ppt/notesSlides/notesSlide4.xml" Id="R30dc5101447447c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43387b3396429d" /><Relationship Type="http://schemas.openxmlformats.org/officeDocument/2006/relationships/notesSlide" Target="/ppt/notesSlides/notesSlide5.xml" Id="R2318ca4babe54da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12178368ac4182" /><Relationship Type="http://schemas.openxmlformats.org/officeDocument/2006/relationships/notesSlide" Target="/ppt/notesSlides/notesSlide6.xml" Id="R32eaa8275b66471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6bcf09861f4aca" /><Relationship Type="http://schemas.openxmlformats.org/officeDocument/2006/relationships/notesSlide" Target="/ppt/notesSlides/notesSlide7.xml" Id="R57c5287242664fa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dd1cc40de44dd8" /><Relationship Type="http://schemas.openxmlformats.org/officeDocument/2006/relationships/notesSlide" Target="/ppt/notesSlides/notesSlide8.xml" Id="R086aa53d6e28456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0a0057623b4d07" /><Relationship Type="http://schemas.openxmlformats.org/officeDocument/2006/relationships/notesSlide" Target="/ppt/notesSlides/notesSlide9.xml" Id="Ra0ced8ffb10b453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2fee13d92248af" /><Relationship Type="http://schemas.openxmlformats.org/officeDocument/2006/relationships/notesSlide" Target="/ppt/notesSlides/notesSlide10.xml" Id="Rc57f8ad02f6444a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a2606fde84410f" /><Relationship Type="http://schemas.openxmlformats.org/officeDocument/2006/relationships/notesSlide" Target="/ppt/notesSlides/notesSlide11.xml" Id="Rfe0bf2bb287e4ba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93d46cf2d84a6a" /><Relationship Type="http://schemas.openxmlformats.org/officeDocument/2006/relationships/notesSlide" Target="/ppt/notesSlides/notesSlide12.xml" Id="R8a4f1217b08b4b3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87525586964d79" /><Relationship Type="http://schemas.openxmlformats.org/officeDocument/2006/relationships/notesSlide" Target="/ppt/notesSlides/notesSlide13.xml" Id="Ra1a136fc6dff48b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268279d2a745f2" /><Relationship Type="http://schemas.openxmlformats.org/officeDocument/2006/relationships/notesSlide" Target="/ppt/notesSlides/notesSlide14.xml" Id="Rce1b44a64902420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67e417549e4b6e" /><Relationship Type="http://schemas.openxmlformats.org/officeDocument/2006/relationships/notesSlide" Target="/ppt/notesSlides/notesSlide15.xml" Id="Rfaa15aae79c74a65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6292859ee74052" /><Relationship Type="http://schemas.openxmlformats.org/officeDocument/2006/relationships/notesSlide" Target="/ppt/notesSlides/notesSlide16.xml" Id="R59d94485073d44a9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577293a09e4b28" /><Relationship Type="http://schemas.openxmlformats.org/officeDocument/2006/relationships/notesSlide" Target="/ppt/notesSlides/notesSlide17.xml" Id="R9d289bc90f264d79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e966f290ec4519" /><Relationship Type="http://schemas.openxmlformats.org/officeDocument/2006/relationships/notesSlide" Target="/ppt/notesSlides/notesSlide18.xml" Id="R3979e551cc19411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E1B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B383E135-FC3D-4B53-9CBC-F312CDB2F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88952" cy="1645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600"/>
          </a:solidFill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33569489-0340-4B2E-8AB4-6C84A2404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371600"/>
            <a:ext cx="10725912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 spc="200">
                <a:solidFill>
                  <a:srgbClr val="FF6600"/>
                </a:solidFill>
              </a:rPr>
              <a:t>INOVACAMP — DESAFIO DE NEGÓCIOS ITAÚ</a:t>
            </a:r>
            <a:endParaRPr sz="14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FF99A1DB-19F7-48C3-9D03-EC586B7C5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920240"/>
            <a:ext cx="10725912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600" b="1">
                <a:solidFill>
                  <a:srgbClr val="FFFFFF"/>
                </a:solidFill>
              </a:rPr>
              <a:t>Assistente Pessoal Financeiro (APF)</a:t>
            </a:r>
            <a:endParaRPr sz="36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EFE8749E-C249-480E-9A5A-E63AC5C04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880360"/>
            <a:ext cx="10725912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>
                <a:solidFill>
                  <a:srgbClr val="C9D2E3"/>
                </a:solidFill>
              </a:rPr>
              <a:t>Com Engine de Padrões: da segurança à antecipação de necessidades</a:t>
            </a:r>
            <a:endParaRPr sz="170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EA77A8F1-E0D6-40C0-ACE2-5F7163148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749040"/>
            <a:ext cx="20116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FF6600"/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58602D88-B47D-4C13-B434-92F0308C4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023360"/>
            <a:ext cx="10725912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i="1">
                <a:solidFill>
                  <a:srgbClr val="AEB8CC"/>
                </a:solidFill>
              </a:rPr>
              <a:t>“Não é mais um app que você usa. É um agente que aprende com você, avisa antes e te ensina no momento certo.”</a:t>
            </a:r>
            <a:endParaRPr sz="1550"/>
          </a:p>
        </p:txBody>
      </p:sp>
    </p:spTree>
    <p:extLst>
      <p:ext uri="{BB962C8B-B14F-4D97-AF65-F5344CB8AC3E}">
        <p14:creationId xmlns:p14="http://schemas.microsoft.com/office/powerpoint/2010/main" val="129709083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9C5743FC-111B-489B-88BE-7DFACBEEC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5760"/>
            <a:ext cx="11091672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 spc="200">
                <a:solidFill>
                  <a:srgbClr val="FF6600"/>
                </a:solidFill>
              </a:rPr>
              <a:t>A TESE CENTRAL</a:t>
            </a:r>
            <a:endParaRPr sz="13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6AB365F5-CEC9-473F-B034-4E4B28BE5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85800"/>
            <a:ext cx="11091672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700" b="1">
                <a:solidFill>
                  <a:srgbClr val="0E1B33"/>
                </a:solidFill>
              </a:rPr>
              <a:t>De navegar, para pedir, para ser antecipado</a:t>
            </a:r>
            <a:endParaRPr sz="27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68BC3A83-A39F-4898-8357-DEAD5CF82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828800"/>
            <a:ext cx="3474720" cy="237744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4F5F7"/>
          </a:solidFill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DA5C5FB2-5BDC-4979-99E8-E58AD6EE7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057400"/>
            <a:ext cx="30175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0E1B33"/>
                </a:solidFill>
              </a:rPr>
              <a:t>Navegar (hoje)</a:t>
            </a:r>
            <a:endParaRPr sz="16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3866C915-127A-4EF5-AF2D-B8D99C92D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651760"/>
            <a:ext cx="3017520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5B6470"/>
                </a:solidFill>
              </a:rPr>
              <a:t>Apps bancários pedem que o cliente aprenda a estrutura de menu de outra pessoa.</a:t>
            </a:r>
            <a:endParaRPr sz="12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707EFE3C-B637-424A-9983-47093CA4A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7640" y="2651760"/>
            <a:ext cx="64008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>
                <a:solidFill>
                  <a:srgbClr val="FF6600"/>
                </a:solidFill>
              </a:rPr>
              <a:t>→</a:t>
            </a:r>
            <a:endParaRPr sz="220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AB4CFB6D-36A8-49F8-9A1A-5481809C7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1828800"/>
            <a:ext cx="3474720" cy="237744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1B2A4A"/>
          </a:solidFill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C3C8A809-2D47-47C4-9BC3-7302FEC2E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2057400"/>
            <a:ext cx="30175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FFD9A8"/>
                </a:solidFill>
              </a:rPr>
              <a:t>Pedir</a:t>
            </a:r>
            <a:endParaRPr sz="16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B9837489-83DE-41DE-AE12-092AD1ACF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2651760"/>
            <a:ext cx="3017520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D7DCE6"/>
                </a:solidFill>
              </a:rPr>
              <a:t>O cliente pede como pediria a uma pessoa: “Paga minha conta de água”.</a:t>
            </a:r>
            <a:endParaRPr sz="12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8B855780-025A-4D75-8306-FED157F96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6680" y="2651760"/>
            <a:ext cx="64008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>
                <a:solidFill>
                  <a:srgbClr val="FF6600"/>
                </a:solidFill>
              </a:rPr>
              <a:t>→</a:t>
            </a:r>
            <a:endParaRPr sz="220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F370213C-833A-486A-B512-8A4EF17EE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1828800"/>
            <a:ext cx="3474720" cy="237744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0E1B33"/>
          </a:solidFill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EFF87BEE-1F6C-4BE4-B7F8-3C0B5F62B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2057400"/>
            <a:ext cx="30175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FF6600"/>
                </a:solidFill>
              </a:rPr>
              <a:t>Ser antecipado</a:t>
            </a:r>
            <a:endParaRPr sz="16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158D87D8-A5BC-4B8B-A96F-7E73E18AC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2651760"/>
            <a:ext cx="3017520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D7DCE6"/>
                </a:solidFill>
              </a:rPr>
              <a:t>O agente já sabe: detecta o padrão e sugere antes de você lembrar.</a:t>
            </a:r>
            <a:endParaRPr sz="1200"/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83B73F0E-6DF2-40EE-839B-0ED54A54A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434840"/>
            <a:ext cx="11091672" cy="9144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1E0"/>
          </a:solidFill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6CA01914-A593-48F2-8418-370D2A48D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434840"/>
            <a:ext cx="10543032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0E1B33"/>
                </a:solidFill>
              </a:rPr>
              <a:t>Inclusão real: pedir tem custo cognitivo muito menor que navegar — não só para usuários mais velhos, qualquer pessoa cansada de aprender interface nova. Nem bancos tradicionais nem digitais resolveram essa frente.</a:t>
            </a:r>
            <a:endParaRPr sz="1300"/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71ED4933-9564-431A-B080-5E814F7E6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532120"/>
            <a:ext cx="11091672" cy="82296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4F5F7"/>
          </a:solidFill>
        </p:spPr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6959EB4F-4D89-4F51-88C2-814515AEE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605272"/>
            <a:ext cx="10543032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i="1">
                <a:solidFill>
                  <a:srgbClr val="0E1B33"/>
                </a:solidFill>
              </a:rPr>
              <a:t>“Antecipar necessidades” é o que o próprio edital pede. Nada resolve isso de fato sem aprender com o histórico do cliente.</a:t>
            </a:r>
            <a:endParaRPr sz="150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0CC911CB-8329-4D08-A388-B0DB3D5E7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8872" y="6400800"/>
            <a:ext cx="457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5B6470"/>
                </a:solidFill>
              </a:rPr>
              <a:t>2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4026277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56E3FC49-8086-4F8F-993F-29A0A2D4C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5760"/>
            <a:ext cx="11091672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 spc="200">
                <a:solidFill>
                  <a:srgbClr val="FF6600"/>
                </a:solidFill>
              </a:rPr>
              <a:t>O PARADOXO DO ITAÚ</a:t>
            </a:r>
            <a:endParaRPr sz="13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5B324709-5E28-452E-A184-69722CD82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85800"/>
            <a:ext cx="11091672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700" b="1">
                <a:solidFill>
                  <a:srgbClr val="0E1B33"/>
                </a:solidFill>
              </a:rPr>
              <a:t>O banco tem as peças. Ninguém conectou elas.</a:t>
            </a:r>
            <a:endParaRPr sz="27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E6F6A434-AA0D-42D3-A527-734C3A0E3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828800"/>
            <a:ext cx="3474720" cy="292608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4F5F7"/>
          </a:solidFill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79FD1A1A-7323-4169-8835-09BFE55C5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828800"/>
            <a:ext cx="3474720" cy="10972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6600"/>
          </a:solidFill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7F20D493-DBB9-4A7C-8777-49BA9A279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03120"/>
            <a:ext cx="292608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50" b="1">
                <a:solidFill>
                  <a:srgbClr val="0E1B33"/>
                </a:solidFill>
              </a:rPr>
              <a:t>Mais produtos</a:t>
            </a:r>
            <a:endParaRPr sz="165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42ABC658-AB26-4648-8637-7BC1684D8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697480"/>
            <a:ext cx="2926080" cy="1874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B6470"/>
                </a:solidFill>
              </a:rPr>
              <a:t>que qualquer banco digital: cartão, conta, investimentos, consignado, seguros, câmbio, BBA.</a:t>
            </a:r>
            <a:endParaRPr sz="125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8B2D7B11-57BC-495A-9115-54FB4B679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1828800"/>
            <a:ext cx="3474720" cy="292608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4F5F7"/>
          </a:solidFill>
        </p:spPr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A874D8C4-5CA1-46CF-93A7-031DF17E5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1828800"/>
            <a:ext cx="3474720" cy="10972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6600"/>
          </a:solidFill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A1C9DDC5-D5F1-478E-8165-465C73B2E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103120"/>
            <a:ext cx="292608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50" b="1">
                <a:solidFill>
                  <a:srgbClr val="0E1B33"/>
                </a:solidFill>
              </a:rPr>
              <a:t>Décadas de dados</a:t>
            </a:r>
            <a:endParaRPr sz="165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07B19AE9-0C56-497B-B0B7-062BCC8D1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697480"/>
            <a:ext cx="2926080" cy="1874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B6470"/>
                </a:solidFill>
              </a:rPr>
              <a:t>histórico transacional que nenhum banco digital novo possui — matéria-prima do EPC.</a:t>
            </a:r>
            <a:endParaRPr sz="125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E685E006-8C3E-4E6E-9BA1-14611AA8D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1828800"/>
            <a:ext cx="3474720" cy="292608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4F5F7"/>
          </a:solidFill>
        </p:spPr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8CE667A4-605F-4828-8BC9-B6B2AD610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1828800"/>
            <a:ext cx="3474720" cy="10972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6600"/>
          </a:solidFill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2E9DC86A-F332-43D1-8090-04E15E95B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2103120"/>
            <a:ext cx="292608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50" b="1">
                <a:solidFill>
                  <a:srgbClr val="0E1B33"/>
                </a:solidFill>
              </a:rPr>
              <a:t>Segurança comprovada</a:t>
            </a:r>
            <a:endParaRPr sz="165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4DFF7AC4-76CD-425B-ADC8-D37822CEE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2697480"/>
            <a:ext cx="2926080" cy="1874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B6470"/>
                </a:solidFill>
              </a:rPr>
              <a:t>o Itaú já validou, oficialmente, um pacote de segurança proativa (ago/2025) — hoje restrito ao PJ.</a:t>
            </a:r>
            <a:endParaRPr sz="125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10E0EB19-B8B7-487C-839F-9F50D4F55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074920"/>
            <a:ext cx="11091672" cy="82296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4F5F7"/>
          </a:solidFill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9C3449E2-EC1C-484E-9BE2-AC922B942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148072"/>
            <a:ext cx="10543032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i="1">
                <a:solidFill>
                  <a:srgbClr val="0E1B33"/>
                </a:solidFill>
              </a:rPr>
              <a:t>Os produtos e os dados existem. A gente propõe conectá-los numa única jornada de decisão — via conversa natural.</a:t>
            </a:r>
            <a:endParaRPr sz="15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58203D76-0186-4B79-930E-DF1760251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8872" y="6400800"/>
            <a:ext cx="457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5B6470"/>
                </a:solidFill>
              </a:rPr>
              <a:t>3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193441343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5747A065-F076-4112-A2E6-E3ABCBDFC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5760"/>
            <a:ext cx="11091672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 spc="200">
                <a:solidFill>
                  <a:srgbClr val="FF6600"/>
                </a:solidFill>
              </a:rPr>
              <a:t>O PROBLEMA</a:t>
            </a:r>
            <a:endParaRPr sz="13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26EECD7B-586B-40C6-B80D-98EDC8111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85800"/>
            <a:ext cx="11091672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700" b="1">
                <a:solidFill>
                  <a:srgbClr val="0E1B33"/>
                </a:solidFill>
              </a:rPr>
              <a:t>Quatro camadas, uma jornada quebrada</a:t>
            </a:r>
            <a:endParaRPr sz="27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B1800E5E-EFB5-423C-AE85-0560612AD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783080"/>
            <a:ext cx="548640" cy="5486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6600"/>
          </a:solidFill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45F4259F-FA12-47AE-8A47-0551ED88E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783080"/>
            <a:ext cx="5486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FFFFFF"/>
                </a:solidFill>
              </a:rPr>
              <a:t>1</a:t>
            </a:r>
            <a:endParaRPr sz="20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9D7BB558-BAE6-42A8-A595-308F0222B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1801368"/>
            <a:ext cx="10268712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>
                <a:solidFill>
                  <a:srgbClr val="0E1B33"/>
                </a:solidFill>
              </a:rPr>
              <a:t>Segurança detecta risco, pergunta “cancela ou continua?” — e some.</a:t>
            </a:r>
            <a:endParaRPr sz="145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9E0CC479-1892-4DC2-A7F2-610F615A4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43200"/>
            <a:ext cx="548640" cy="5486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6600"/>
          </a:solidFill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A2BAE514-F29A-4511-8449-9AF768963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43200"/>
            <a:ext cx="5486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FFFFFF"/>
                </a:solidFill>
              </a:rPr>
              <a:t>2</a:t>
            </a:r>
            <a:endParaRPr sz="20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53D8A1C4-E8A0-4C53-BB6F-A7A2FBCC7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2761488"/>
            <a:ext cx="10268712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>
                <a:solidFill>
                  <a:srgbClr val="0E1B33"/>
                </a:solidFill>
              </a:rPr>
              <a:t>Pagamento: o cliente escolhe crédito por padrão, sem comparar.</a:t>
            </a:r>
            <a:endParaRPr sz="145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3A1382C9-8129-46DA-8CE1-E062BE2A3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703320"/>
            <a:ext cx="548640" cy="5486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6600"/>
          </a:solidFill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47A4B420-CF7B-469E-B2DC-D7A17407E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703320"/>
            <a:ext cx="5486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FFFFFF"/>
                </a:solidFill>
              </a:rPr>
              <a:t>3</a:t>
            </a:r>
            <a:endParaRPr sz="20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40F34C91-1571-404A-9EFD-16F705647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3721608"/>
            <a:ext cx="10268712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>
                <a:solidFill>
                  <a:srgbClr val="0E1B33"/>
                </a:solidFill>
              </a:rPr>
              <a:t>Investimentos: dinheiro fica parado por falta de sugestão no momento certo.</a:t>
            </a:r>
            <a:endParaRPr sz="1450"/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59B4AE2F-42BA-46DA-BDD2-361253985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663440"/>
            <a:ext cx="548640" cy="5486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6600"/>
          </a:solidFill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C6A546E3-E9DB-4291-8456-2A21A9588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663440"/>
            <a:ext cx="5486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FFFFFF"/>
                </a:solidFill>
              </a:rPr>
              <a:t>4</a:t>
            </a:r>
            <a:endParaRPr sz="20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202217A2-FF52-43A5-9E41-269E4F853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4681728"/>
            <a:ext cx="10268712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>
                <a:solidFill>
                  <a:srgbClr val="0E1B33"/>
                </a:solidFill>
              </a:rPr>
              <a:t>Padrões desperdiçados: o cliente paga os mesmos boletos, gasta nos mesmos lugares — e o banco nunca usa esse histórico.</a:t>
            </a:r>
            <a:endParaRPr sz="145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9162D4A8-2730-461C-A0FC-89B57B882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8872" y="6400800"/>
            <a:ext cx="457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5B6470"/>
                </a:solidFill>
              </a:rPr>
              <a:t>4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166458704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CBBE2CEC-0634-4F07-8377-4031E1B3B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5760"/>
            <a:ext cx="11091672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 spc="200">
                <a:solidFill>
                  <a:srgbClr val="FF6600"/>
                </a:solidFill>
              </a:rPr>
              <a:t>A SOLUÇÃO</a:t>
            </a:r>
            <a:endParaRPr sz="13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A5F3CF33-90C2-40B3-9FD4-3EDCBE305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85800"/>
            <a:ext cx="11091672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700" b="1">
                <a:solidFill>
                  <a:srgbClr val="0E1B33"/>
                </a:solidFill>
              </a:rPr>
              <a:t>APF com Engine de Padrões e Contexto (EPC)</a:t>
            </a:r>
            <a:endParaRPr sz="27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7A265BAF-F135-410A-B80A-F1ACF2CBD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783080"/>
            <a:ext cx="11091672" cy="82296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4F5F7"/>
          </a:solidFill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499F9017-58AC-49D1-B9F7-84FB463FC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783080"/>
            <a:ext cx="109728" cy="8229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6600"/>
          </a:solidFill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DE97FED0-48B2-405E-9464-DFD324D7B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83080"/>
            <a:ext cx="338328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E1B33"/>
                </a:solidFill>
              </a:rPr>
              <a:t>1. Segurança Integrada</a:t>
            </a:r>
            <a:endParaRPr sz="14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9B4E0EB7-EF76-4B30-824C-DA14C683B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1783080"/>
            <a:ext cx="758952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5B6470"/>
                </a:solidFill>
              </a:rPr>
              <a:t>Adapta ao PF o padrão já validado no PJ; valida e libera o fluxo.</a:t>
            </a:r>
            <a:endParaRPr sz="120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C7ABE40D-FFD2-4C40-A490-21BB15B50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43200"/>
            <a:ext cx="11091672" cy="82296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4F5F7"/>
          </a:solidFill>
        </p:spPr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8A43AF88-7A30-4CC5-92A1-3860C1FC9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43200"/>
            <a:ext cx="109728" cy="8229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6600"/>
          </a:solidFill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63F57AE1-C5C5-4A18-BC4B-291DDE452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338328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E1B33"/>
                </a:solidFill>
              </a:rPr>
              <a:t>2. Otimização de Pagamento</a:t>
            </a:r>
            <a:endParaRPr sz="14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B5C5D49A-092A-4BD6-96A9-9DDDA560A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2743200"/>
            <a:ext cx="758952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5B6470"/>
                </a:solidFill>
              </a:rPr>
              <a:t>Compara formas de pagamento em tempo real; sugere a mais vantajosa.</a:t>
            </a:r>
            <a:endParaRPr sz="120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87446AFB-2129-4937-9FCE-3B24025BD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703320"/>
            <a:ext cx="11091672" cy="82296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4F5F7"/>
          </a:solidFill>
        </p:spPr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A3EF1F51-4530-4258-A67D-8DD33FB6F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703320"/>
            <a:ext cx="109728" cy="8229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6600"/>
          </a:solidFill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92112789-9081-434F-AB51-2C17D9130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03320"/>
            <a:ext cx="338328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E1B33"/>
                </a:solidFill>
              </a:rPr>
              <a:t>3. Alocação Inteligente</a:t>
            </a:r>
            <a:endParaRPr sz="14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B247A4E8-0785-4A35-BD84-A11C7866F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3703320"/>
            <a:ext cx="758952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5B6470"/>
                </a:solidFill>
              </a:rPr>
              <a:t>Detecta saldo ocioso; sugere produto de baixo risco, com pílula de conhecimento.</a:t>
            </a:r>
            <a:endParaRPr sz="120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F38AC48A-891B-4882-B761-FF476CA61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663440"/>
            <a:ext cx="11091672" cy="82296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4F5F7"/>
          </a:solidFill>
        </p:spPr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910DF177-8E6D-49BB-8CA7-8267BF0A7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663440"/>
            <a:ext cx="109728" cy="8229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6600"/>
          </a:solidFill>
        </p:spPr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575FF8BD-320F-47CB-8A74-CB8E7D669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63440"/>
            <a:ext cx="338328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E1B33"/>
                </a:solidFill>
              </a:rPr>
              <a:t>4. EPC — Antecipação</a:t>
            </a:r>
            <a:endParaRPr sz="140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509EC962-D69B-47A4-8AF6-A13B42F90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4663440"/>
            <a:ext cx="758952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5B6470"/>
                </a:solidFill>
              </a:rPr>
              <a:t>Detecta recorrências (aluguel, delivery, salário) e age antes do cliente lembrar.</a:t>
            </a:r>
            <a:endParaRPr sz="120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C2A2FDC7-5705-4107-B97A-0168A65DC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8872" y="6400800"/>
            <a:ext cx="457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5B6470"/>
                </a:solidFill>
              </a:rPr>
              <a:t>5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148439771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7D38A5EC-E0E8-4F8D-804B-0B397327C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5760"/>
            <a:ext cx="11091672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 spc="200">
                <a:solidFill>
                  <a:srgbClr val="FF6600"/>
                </a:solidFill>
              </a:rPr>
              <a:t>ARQUITETURA</a:t>
            </a:r>
            <a:endParaRPr sz="13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D386DBA5-75CF-4CC7-B32A-935067B6C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85800"/>
            <a:ext cx="11091672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700" b="1">
                <a:solidFill>
                  <a:srgbClr val="0E1B33"/>
                </a:solidFill>
              </a:rPr>
              <a:t>Um orquestrador, módulos especializados</a:t>
            </a:r>
            <a:endParaRPr sz="27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113EE46D-F124-4E96-A7B9-186626EC7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3360" y="1737360"/>
            <a:ext cx="4114800" cy="105156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E1B33"/>
          </a:solidFill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8BF910A8-7A38-43ED-B26A-C35DB057F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6240" y="1828800"/>
            <a:ext cx="37490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FF6600"/>
                </a:solidFill>
              </a:rPr>
              <a:t>APF — Motor Único de Orquestração</a:t>
            </a:r>
            <a:endParaRPr sz="125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9D0E3017-0B82-457E-B00E-6697A5DCE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6240" y="2194560"/>
            <a:ext cx="374904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D7DCE6"/>
                </a:solidFill>
              </a:rPr>
              <a:t>NLU/LLM • roteamento de intenção • grounding • explicabilidade</a:t>
            </a:r>
            <a:endParaRPr sz="10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E54E0EED-F137-4925-8AF3-B1A2AC78F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246120"/>
            <a:ext cx="2514600" cy="96012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4F5F7"/>
          </a:solidFill>
          <a:ln xmlns:a="http://schemas.openxmlformats.org/drawingml/2006/main" w="12700">
            <a:solidFill>
              <a:srgbClr val="E3E5E9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F2E6D004-199D-44FE-BF25-7201F1BF6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246120"/>
            <a:ext cx="2514600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0E1B33"/>
                </a:solidFill>
              </a:rPr>
              <a:t>Módulo de</a:t>
            </a:r>
            <a:endParaRPr sz="1200"/>
          </a:p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0E1B33"/>
                </a:solidFill>
              </a:rPr>
              <a:t>Segurança</a:t>
            </a:r>
            <a:endParaRPr sz="120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09FE7ECF-8A6E-475D-BC90-C6CBCC347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7380" y="2834640"/>
            <a:ext cx="0" cy="41148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6600"/>
            </a:solidFill>
            <a:prstDash val="solid"/>
          </a:ln>
        </p:spPr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015434FC-C118-463B-B4BE-BDD79CB62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246120"/>
            <a:ext cx="2514600" cy="96012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4F5F7"/>
          </a:solidFill>
          <a:ln xmlns:a="http://schemas.openxmlformats.org/drawingml/2006/main" w="12700">
            <a:solidFill>
              <a:srgbClr val="E3E5E9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5889E91F-20B1-494E-BAE9-E168FE898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246120"/>
            <a:ext cx="2514600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0E1B33"/>
                </a:solidFill>
              </a:rPr>
              <a:t>Módulo de</a:t>
            </a:r>
            <a:endParaRPr sz="1200"/>
          </a:p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0E1B33"/>
                </a:solidFill>
              </a:rPr>
              <a:t>Pagamento</a:t>
            </a:r>
            <a:endParaRPr sz="120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E44F2E93-969E-408A-9689-884CF8C0E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834640"/>
            <a:ext cx="0" cy="41148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6600"/>
            </a:solidFill>
            <a:prstDash val="solid"/>
          </a:ln>
        </p:spPr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9A3261B0-AACE-4B4C-9BA3-55FC52B8B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3246120"/>
            <a:ext cx="2514600" cy="96012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4F5F7"/>
          </a:solidFill>
          <a:ln xmlns:a="http://schemas.openxmlformats.org/drawingml/2006/main" w="12700">
            <a:solidFill>
              <a:srgbClr val="E3E5E9"/>
            </a:solidFill>
            <a:prstDash val="solid"/>
          </a:ln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C4C37073-CA09-468A-8770-0DC287511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3246120"/>
            <a:ext cx="2514600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0E1B33"/>
                </a:solidFill>
              </a:rPr>
              <a:t>Módulo de</a:t>
            </a:r>
            <a:endParaRPr sz="1200"/>
          </a:p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0E1B33"/>
                </a:solidFill>
              </a:rPr>
              <a:t>Investimento</a:t>
            </a:r>
            <a:endParaRPr sz="1200"/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9633D634-90D3-4E1F-B4CD-3BD1CA87E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5220" y="2834640"/>
            <a:ext cx="0" cy="41148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6600"/>
            </a:solidFill>
            <a:prstDash val="solid"/>
          </a:ln>
        </p:spPr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FE08E3A9-B0E6-4143-880E-21E858E66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3246120"/>
            <a:ext cx="2514600" cy="96012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4F5F7"/>
          </a:solidFill>
          <a:ln xmlns:a="http://schemas.openxmlformats.org/drawingml/2006/main" w="12700">
            <a:solidFill>
              <a:srgbClr val="E3E5E9"/>
            </a:solidFill>
            <a:prstDash val="solid"/>
          </a:ln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88BB43C3-3B92-4AD9-B081-7339722C5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3246120"/>
            <a:ext cx="2514600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0E1B33"/>
                </a:solidFill>
              </a:rPr>
              <a:t>Módulo de</a:t>
            </a:r>
            <a:endParaRPr sz="1200"/>
          </a:p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0E1B33"/>
                </a:solidFill>
              </a:rPr>
              <a:t>Padrões (EPC)</a:t>
            </a:r>
            <a:endParaRPr sz="1200"/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DC31AEC7-02BF-42B6-A64D-1DC948305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4140" y="2834640"/>
            <a:ext cx="0" cy="41148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6600"/>
            </a:solidFill>
            <a:prstDash val="solid"/>
          </a:ln>
        </p:spPr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CC554AFC-20B9-4D3A-846F-1655AB259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834640"/>
            <a:ext cx="1090879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6600"/>
            </a:solidFill>
            <a:prstDash val="solid"/>
          </a:ln>
        </p:spPr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D3F05DE8-D932-4092-A7CE-0C5B51F7A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480560"/>
            <a:ext cx="11091672" cy="777240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FFF1E0"/>
          </a:solidFill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8E1C6EC5-7593-4028-808E-F64E6F756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480560"/>
            <a:ext cx="10543032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0E1B33"/>
                </a:solidFill>
              </a:rPr>
              <a:t>Não são agentes autônomos: é um único motor com roteamento de intenção e tool-calling por módulo — a forma real como esse tipo de sistema é construído hoje.</a:t>
            </a:r>
            <a:endParaRPr sz="125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3C40FC7F-77E1-4C9C-ABAD-07551F71D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440680"/>
            <a:ext cx="11091672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 i="1">
                <a:solidFill>
                  <a:srgbClr val="5B6470"/>
                </a:solidFill>
              </a:rPr>
              <a:t>EPC: detecção de recorrência por agregação estatística simples (favorecido + valor + periodicidade) — não clustering, não machine learning.</a:t>
            </a:r>
            <a:endParaRPr sz="115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BC14393E-FC67-438C-993C-27DEA9CDD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8872" y="6400800"/>
            <a:ext cx="457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5B6470"/>
                </a:solidFill>
              </a:rPr>
              <a:t>6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121680048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F91AF5CC-2B92-4177-AFAB-6A541E5F3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5760"/>
            <a:ext cx="11091672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 spc="200">
                <a:solidFill>
                  <a:srgbClr val="FF6600"/>
                </a:solidFill>
              </a:rPr>
              <a:t>CASO DE USO #1</a:t>
            </a:r>
            <a:endParaRPr sz="13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62BB6A07-FF01-4CEE-82AA-7824AD0B0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85800"/>
            <a:ext cx="11091672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700" b="1">
                <a:solidFill>
                  <a:srgbClr val="0E1B33"/>
                </a:solidFill>
              </a:rPr>
              <a:t>Chat de pagamento</a:t>
            </a:r>
            <a:endParaRPr sz="27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0F663808-B20B-4589-8869-FD88AE5AC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737360"/>
            <a:ext cx="11091672" cy="3383280"/>
          </a:xfrm>
          <a:prstGeom xmlns:a="http://schemas.openxmlformats.org/drawingml/2006/main" prst="roundRect">
            <a:avLst>
              <a:gd name="adj" fmla="val 2703"/>
            </a:avLst>
          </a:prstGeom>
          <a:solidFill xmlns:a="http://schemas.openxmlformats.org/drawingml/2006/main">
            <a:srgbClr val="F4F5F7"/>
          </a:solidFill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CFEE101D-2F07-4902-83B2-C11D1A680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6632" y="1965960"/>
            <a:ext cx="6309360" cy="566928"/>
          </a:xfrm>
          <a:prstGeom xmlns:a="http://schemas.openxmlformats.org/drawingml/2006/main" prst="roundRect">
            <a:avLst>
              <a:gd name="adj" fmla="val 24194"/>
            </a:avLst>
          </a:prstGeom>
          <a:solidFill xmlns:a="http://schemas.openxmlformats.org/drawingml/2006/main">
            <a:srgbClr val="FF6600"/>
          </a:solidFill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F467200A-44BD-4E07-B921-AB5994C31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9512" y="1993392"/>
            <a:ext cx="5943600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50">
                <a:solidFill>
                  <a:srgbClr val="FFFFFF"/>
                </a:solidFill>
              </a:rPr>
              <a:t>Que contas tenho que pagar?</a:t>
            </a:r>
            <a:endParaRPr sz="115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5BD8CA29-112A-4218-BFBD-06AE405E1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651760"/>
            <a:ext cx="6309360" cy="566928"/>
          </a:xfrm>
          <a:prstGeom xmlns:a="http://schemas.openxmlformats.org/drawingml/2006/main" prst="roundRect">
            <a:avLst>
              <a:gd name="adj" fmla="val 24194"/>
            </a:avLst>
          </a:prstGeom>
          <a:solidFill xmlns:a="http://schemas.openxmlformats.org/drawingml/2006/main">
            <a:srgbClr val="0E1B33"/>
          </a:solidFill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EA738FD5-C861-42D2-8863-5686AF458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679192"/>
            <a:ext cx="5943600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50">
                <a:solidFill>
                  <a:srgbClr val="FFFFFF"/>
                </a:solidFill>
              </a:rPr>
              <a:t>SABESP (R$ 187,40, vence em 5 dias) e Vivo (R$ 129,90, vence em 7 dias). Pagar a SABESP agora?</a:t>
            </a:r>
            <a:endParaRPr sz="115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F5349DA4-1FCE-4274-95BB-7214955E3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6632" y="3337560"/>
            <a:ext cx="6309360" cy="566928"/>
          </a:xfrm>
          <a:prstGeom xmlns:a="http://schemas.openxmlformats.org/drawingml/2006/main" prst="roundRect">
            <a:avLst>
              <a:gd name="adj" fmla="val 24194"/>
            </a:avLst>
          </a:prstGeom>
          <a:solidFill xmlns:a="http://schemas.openxmlformats.org/drawingml/2006/main">
            <a:srgbClr val="FF6600"/>
          </a:solidFill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B7866BF6-9D9E-44F6-BCF0-84DEB73F5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9512" y="3364992"/>
            <a:ext cx="5943600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50">
                <a:solidFill>
                  <a:srgbClr val="FFFFFF"/>
                </a:solidFill>
              </a:rPr>
              <a:t>Pagar SABESP</a:t>
            </a:r>
            <a:endParaRPr sz="115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C3560737-9678-47B3-AFE2-4C21DD72A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023360"/>
            <a:ext cx="6309360" cy="566928"/>
          </a:xfrm>
          <a:prstGeom xmlns:a="http://schemas.openxmlformats.org/drawingml/2006/main" prst="roundRect">
            <a:avLst>
              <a:gd name="adj" fmla="val 24194"/>
            </a:avLst>
          </a:prstGeom>
          <a:solidFill xmlns:a="http://schemas.openxmlformats.org/drawingml/2006/main">
            <a:srgbClr val="0E1B33"/>
          </a:solidFill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F3895DC1-EDF4-47FF-91B5-5E20627B0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4050792"/>
            <a:ext cx="5943600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50">
                <a:solidFill>
                  <a:srgbClr val="FFFFFF"/>
                </a:solidFill>
              </a:rPr>
              <a:t>Pix debita agora; crédito leva R$ 187,40 à fatura. Revise premissas. Confirmar?</a:t>
            </a:r>
            <a:endParaRPr sz="1150"/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91D66992-2A6A-465C-8369-1327D85B0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6632" y="4709160"/>
            <a:ext cx="6309360" cy="566928"/>
          </a:xfrm>
          <a:prstGeom xmlns:a="http://schemas.openxmlformats.org/drawingml/2006/main" prst="roundRect">
            <a:avLst>
              <a:gd name="adj" fmla="val 24194"/>
            </a:avLst>
          </a:prstGeom>
          <a:solidFill xmlns:a="http://schemas.openxmlformats.org/drawingml/2006/main">
            <a:srgbClr val="FF6600"/>
          </a:solidFill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8785C648-60AF-4DB3-8230-97148833B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9512" y="4736592"/>
            <a:ext cx="5943600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50">
                <a:solidFill>
                  <a:srgbClr val="FFFFFF"/>
                </a:solidFill>
              </a:rPr>
              <a:t>Sim</a:t>
            </a:r>
            <a:endParaRPr sz="1150"/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BDFF69B7-B5AE-4752-87D0-4483B7633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303520"/>
            <a:ext cx="11091672" cy="64008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1E0"/>
          </a:solidFill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A2F8E29B-7727-46B3-9CA8-B3BC17B31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303520"/>
            <a:ext cx="27432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F6600"/>
                </a:solidFill>
              </a:rPr>
              <a:t>MÉTRICA DE SUCESSO   </a:t>
            </a:r>
            <a:endParaRPr sz="11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8AD234BE-457F-453D-B8FF-D076F3671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5303520"/>
            <a:ext cx="8348472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0E1B33"/>
                </a:solidFill>
              </a:rPr>
              <a:t>Redução de uso de crédito rotativo; taxa de resolução de intenção na primeira interação.</a:t>
            </a:r>
            <a:endParaRPr sz="12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415BA6AF-05B3-4826-B175-261D44C8D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8872" y="6400800"/>
            <a:ext cx="457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5B6470"/>
                </a:solidFill>
              </a:rPr>
              <a:t>7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261330238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AEC64781-75EC-4D1C-AF0D-5218E5F72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5760"/>
            <a:ext cx="11091672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 spc="200">
                <a:solidFill>
                  <a:srgbClr val="FF6600"/>
                </a:solidFill>
              </a:rPr>
              <a:t>CASO DE USO #2</a:t>
            </a:r>
            <a:endParaRPr sz="13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7F88630B-C8F7-497B-884F-79BBC8EE7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85800"/>
            <a:ext cx="11091672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700" b="1">
                <a:solidFill>
                  <a:srgbClr val="0E1B33"/>
                </a:solidFill>
              </a:rPr>
              <a:t>Alocação + pílula de conhecimento</a:t>
            </a:r>
            <a:endParaRPr sz="27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1047E7B4-5F42-45E3-9FAA-21042FB49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737360"/>
            <a:ext cx="11091672" cy="3383280"/>
          </a:xfrm>
          <a:prstGeom xmlns:a="http://schemas.openxmlformats.org/drawingml/2006/main" prst="roundRect">
            <a:avLst>
              <a:gd name="adj" fmla="val 2703"/>
            </a:avLst>
          </a:prstGeom>
          <a:solidFill xmlns:a="http://schemas.openxmlformats.org/drawingml/2006/main">
            <a:srgbClr val="F4F5F7"/>
          </a:solidFill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A523AC49-5654-4C42-A877-C6D1FBCC9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965960"/>
            <a:ext cx="6309360" cy="566928"/>
          </a:xfrm>
          <a:prstGeom xmlns:a="http://schemas.openxmlformats.org/drawingml/2006/main" prst="roundRect">
            <a:avLst>
              <a:gd name="adj" fmla="val 24194"/>
            </a:avLst>
          </a:prstGeom>
          <a:solidFill xmlns:a="http://schemas.openxmlformats.org/drawingml/2006/main">
            <a:srgbClr val="0E1B33"/>
          </a:solidFill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54E4BE1B-B665-4139-A687-07A85D77A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1993392"/>
            <a:ext cx="5943600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50">
                <a:solidFill>
                  <a:srgbClr val="FFFFFF"/>
                </a:solidFill>
              </a:rPr>
              <a:t>Detectei R$ 1.200 acima do seu padrão. Aplicar em CDB liquidez diária? Projeção: +R$ 8/mês (estimativa).</a:t>
            </a:r>
            <a:endParaRPr sz="115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53061750-8EA5-4D7E-B18B-7300AEADD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6632" y="2651760"/>
            <a:ext cx="6309360" cy="566928"/>
          </a:xfrm>
          <a:prstGeom xmlns:a="http://schemas.openxmlformats.org/drawingml/2006/main" prst="roundRect">
            <a:avLst>
              <a:gd name="adj" fmla="val 24194"/>
            </a:avLst>
          </a:prstGeom>
          <a:solidFill xmlns:a="http://schemas.openxmlformats.org/drawingml/2006/main">
            <a:srgbClr val="FF6600"/>
          </a:solidFill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ED647612-41AD-40FF-9C76-D7C3C6CA9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9512" y="2679192"/>
            <a:ext cx="5943600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50">
                <a:solidFill>
                  <a:srgbClr val="FFFFFF"/>
                </a:solidFill>
              </a:rPr>
              <a:t>Aplica 800</a:t>
            </a:r>
            <a:endParaRPr sz="115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6CB39059-3FE5-40CE-A0F1-B4FD56792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337560"/>
            <a:ext cx="6309360" cy="566928"/>
          </a:xfrm>
          <a:prstGeom xmlns:a="http://schemas.openxmlformats.org/drawingml/2006/main" prst="roundRect">
            <a:avLst>
              <a:gd name="adj" fmla="val 24194"/>
            </a:avLst>
          </a:prstGeom>
          <a:solidFill xmlns:a="http://schemas.openxmlformats.org/drawingml/2006/main">
            <a:srgbClr val="0E1B33"/>
          </a:solidFill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52C1ACF3-872B-4CCA-B18C-97DCE7498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3364992"/>
            <a:ext cx="5943600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50">
                <a:solidFill>
                  <a:srgbClr val="FFFFFF"/>
                </a:solidFill>
              </a:rPr>
              <a:t>Aplicado. Renda fixa é um tipo de investimento com rendimento previsível e liquidez diária.</a:t>
            </a:r>
            <a:endParaRPr sz="115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9BE7CC78-591D-44D0-9F8F-F4B3172CE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303520"/>
            <a:ext cx="11091672" cy="64008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1E0"/>
          </a:solidFill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CCDE5AE7-1553-426C-AE0F-D384BFF77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303520"/>
            <a:ext cx="27432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F6600"/>
                </a:solidFill>
              </a:rPr>
              <a:t>MÉTRICA DE SUCESSO   </a:t>
            </a:r>
            <a:endParaRPr sz="11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DB8CFB0C-707E-4352-9743-ABC9DA617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5303520"/>
            <a:ext cx="8348472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0E1B33"/>
                </a:solidFill>
              </a:rPr>
              <a:t>Volume migrado via sugestão; taxa de aceitação; engajamento com a pílula de conhecimento.</a:t>
            </a:r>
            <a:endParaRPr sz="12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65D65023-34B5-4443-9698-CEB0D77E7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8872" y="6400800"/>
            <a:ext cx="457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5B6470"/>
                </a:solidFill>
              </a:rPr>
              <a:t>8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1599226671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D19A3639-4CD9-4563-AD6A-66E7AF231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5760"/>
            <a:ext cx="11091672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 spc="200">
                <a:solidFill>
                  <a:srgbClr val="FF6600"/>
                </a:solidFill>
              </a:rPr>
              <a:t>CASO DE USO #3</a:t>
            </a:r>
            <a:endParaRPr sz="13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EEADDF6E-C788-4D0C-ABCF-4CDF6B0CE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85800"/>
            <a:ext cx="11091672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700" b="1">
                <a:solidFill>
                  <a:srgbClr val="0E1B33"/>
                </a:solidFill>
              </a:rPr>
              <a:t>Segurança conversacional</a:t>
            </a:r>
            <a:endParaRPr sz="27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CA20F97C-85BE-42DA-AD87-18F51EDA4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737360"/>
            <a:ext cx="11091672" cy="3383280"/>
          </a:xfrm>
          <a:prstGeom xmlns:a="http://schemas.openxmlformats.org/drawingml/2006/main" prst="roundRect">
            <a:avLst>
              <a:gd name="adj" fmla="val 2703"/>
            </a:avLst>
          </a:prstGeom>
          <a:solidFill xmlns:a="http://schemas.openxmlformats.org/drawingml/2006/main">
            <a:srgbClr val="F4F5F7"/>
          </a:solidFill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0432609C-9500-4857-8D72-C4F5700CF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6632" y="1965960"/>
            <a:ext cx="6309360" cy="566928"/>
          </a:xfrm>
          <a:prstGeom xmlns:a="http://schemas.openxmlformats.org/drawingml/2006/main" prst="roundRect">
            <a:avLst>
              <a:gd name="adj" fmla="val 24194"/>
            </a:avLst>
          </a:prstGeom>
          <a:solidFill xmlns:a="http://schemas.openxmlformats.org/drawingml/2006/main">
            <a:srgbClr val="FF6600"/>
          </a:solidFill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CB41E4B6-3D2D-4B1C-90E1-07E76ECCA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9512" y="1993392"/>
            <a:ext cx="5943600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50">
                <a:solidFill>
                  <a:srgbClr val="FFFFFF"/>
                </a:solidFill>
              </a:rPr>
              <a:t>[Pix de R$ 2.500 para chave nova]</a:t>
            </a:r>
            <a:endParaRPr sz="115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460ED679-3829-474F-98CD-CE32EE390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651760"/>
            <a:ext cx="6309360" cy="566928"/>
          </a:xfrm>
          <a:prstGeom xmlns:a="http://schemas.openxmlformats.org/drawingml/2006/main" prst="roundRect">
            <a:avLst>
              <a:gd name="adj" fmla="val 24194"/>
            </a:avLst>
          </a:prstGeom>
          <a:solidFill xmlns:a="http://schemas.openxmlformats.org/drawingml/2006/main">
            <a:srgbClr val="0E1B33"/>
          </a:solidFill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A8B8E3CE-351B-4F09-A533-FB3A85D4A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679192"/>
            <a:ext cx="5943600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50">
                <a:solidFill>
                  <a:srgbClr val="FFFFFF"/>
                </a:solidFill>
              </a:rPr>
              <a:t>Detectei um padrão atípico: valor alto para favorecido novo. Você conhece essa pessoa?</a:t>
            </a:r>
            <a:endParaRPr sz="115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31FC225D-E358-4D1A-81F3-ED1540289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6632" y="3337560"/>
            <a:ext cx="6309360" cy="566928"/>
          </a:xfrm>
          <a:prstGeom xmlns:a="http://schemas.openxmlformats.org/drawingml/2006/main" prst="roundRect">
            <a:avLst>
              <a:gd name="adj" fmla="val 24194"/>
            </a:avLst>
          </a:prstGeom>
          <a:solidFill xmlns:a="http://schemas.openxmlformats.org/drawingml/2006/main">
            <a:srgbClr val="FF6600"/>
          </a:solidFill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5BAC434B-5D97-4D03-8B49-B760D2ED5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9512" y="3364992"/>
            <a:ext cx="5943600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50">
                <a:solidFill>
                  <a:srgbClr val="FFFFFF"/>
                </a:solidFill>
              </a:rPr>
              <a:t>[Confirma com biometria no app]</a:t>
            </a:r>
            <a:endParaRPr sz="115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A6C3F1E8-B073-4103-8A7A-8183F5632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023360"/>
            <a:ext cx="6309360" cy="566928"/>
          </a:xfrm>
          <a:prstGeom xmlns:a="http://schemas.openxmlformats.org/drawingml/2006/main" prst="roundRect">
            <a:avLst>
              <a:gd name="adj" fmla="val 24194"/>
            </a:avLst>
          </a:prstGeom>
          <a:solidFill xmlns:a="http://schemas.openxmlformats.org/drawingml/2006/main">
            <a:srgbClr val="0E1B33"/>
          </a:solidFill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6C024243-56C1-44E7-AB2A-7177E664C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4050792"/>
            <a:ext cx="5943600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50">
                <a:solidFill>
                  <a:srgbClr val="FFFFFF"/>
                </a:solidFill>
              </a:rPr>
              <a:t>Liberado. Pix debita agora; crédito preserva caixa e aumenta a fatura. Qual usar?</a:t>
            </a:r>
            <a:endParaRPr sz="1150"/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AE9B283E-9328-42F1-A55E-9437056D5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303520"/>
            <a:ext cx="11091672" cy="64008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1E0"/>
          </a:solidFill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FDA879B0-2DE8-4312-A9E2-69D7E2788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303520"/>
            <a:ext cx="27432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F6600"/>
                </a:solidFill>
              </a:rPr>
              <a:t>MÉTRICA DE SUCESSO   </a:t>
            </a:r>
            <a:endParaRPr sz="11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07D13CA6-F87F-4D06-BCD3-120059851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5303520"/>
            <a:ext cx="8348472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0E1B33"/>
                </a:solidFill>
              </a:rPr>
              <a:t>Taxa de engajamento com o comparador após o fluxo de segurança.</a:t>
            </a:r>
            <a:endParaRPr sz="12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E27F73B7-D23F-4DF6-B017-4C56F8BC1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8872" y="6400800"/>
            <a:ext cx="457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5B6470"/>
                </a:solidFill>
              </a:rPr>
              <a:t>9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1389386755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439FC020-BF21-46F6-AA14-0064FFBE9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5760"/>
            <a:ext cx="11091672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 spc="200">
                <a:solidFill>
                  <a:srgbClr val="FF6600"/>
                </a:solidFill>
              </a:rPr>
              <a:t>CASO DE USO #4 — O ANTECIPATÓRIO</a:t>
            </a:r>
            <a:endParaRPr sz="13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24D3CAAD-867D-452B-B649-1ECC8E972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85800"/>
            <a:ext cx="11091672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700" b="1">
                <a:solidFill>
                  <a:srgbClr val="0E1B33"/>
                </a:solidFill>
              </a:rPr>
              <a:t>EPC: automação e educação financeira</a:t>
            </a:r>
            <a:endParaRPr sz="27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6D63932A-044C-4176-9907-545DAB328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737360"/>
            <a:ext cx="5394960" cy="301752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F4F5F7"/>
          </a:solidFill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7F0FDF56-E5ED-4B1D-9382-21874CC0C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920240"/>
            <a:ext cx="48463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FF6600"/>
                </a:solidFill>
              </a:rPr>
              <a:t>AUTOMAÇÃO</a:t>
            </a:r>
            <a:endParaRPr sz="12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4A2B61B0-D1FF-4907-8B80-F06DCDBD5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286000"/>
            <a:ext cx="484632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0E1B33"/>
                </a:solidFill>
              </a:rPr>
              <a:t>EPC detecta: Pix de R$ 1.500 para João Silva todo dia 10, há 12 meses.</a:t>
            </a:r>
            <a:endParaRPr sz="12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BE9B300C-A56A-4712-BAE4-69CD46027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971800"/>
            <a:ext cx="4846320" cy="77724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0E1B33"/>
          </a:solidFill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5CC0CED0-DA60-46A7-B280-AC5E6216D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971800"/>
            <a:ext cx="448056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FFFFFF"/>
                </a:solidFill>
              </a:rPr>
              <a:t>“Você paga aluguel de R$ 1.500 pra João Silva todo dia 10. Quer que eu configure o Pix Automático?”</a:t>
            </a:r>
            <a:endParaRPr sz="115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CB131E2D-3647-4439-BA44-BE7F97AA4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931920"/>
            <a:ext cx="48463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5B6470"/>
                </a:solidFill>
              </a:rPr>
              <a:t>Usa o Pix Automático — mecanismo real do Banco Central, obrigatório desde out/2025 — não uma automação proprietária.</a:t>
            </a:r>
            <a:endParaRPr sz="105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BE250319-F693-45BA-BC2B-2EE8B4BBE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737360"/>
            <a:ext cx="5394960" cy="301752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F4F5F7"/>
          </a:solidFill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9BEF54A1-8029-488E-9742-D4437CF40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1920240"/>
            <a:ext cx="48463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FF6600"/>
                </a:solidFill>
              </a:rPr>
              <a:t>INSIGHT + EDUCAÇÃO</a:t>
            </a:r>
            <a:endParaRPr sz="12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CF43B9C9-F629-4761-80DA-FAFC49DB0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2286000"/>
            <a:ext cx="484632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0E1B33"/>
                </a:solidFill>
              </a:rPr>
              <a:t>EPC detecta: R$ 45/dia em delivery no almoço, 20 dias/mês = R$ 900/mês = R$ 10.800/ano.</a:t>
            </a:r>
            <a:endParaRPr sz="1200"/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0583DC7B-3AED-4FB4-B6FD-A775F2100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2971800"/>
            <a:ext cx="4846320" cy="77724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0E1B33"/>
          </a:solidFill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A3107D5A-6505-4C2E-9D84-B915499F9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0" y="2971800"/>
            <a:ext cx="448056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FFFFFF"/>
                </a:solidFill>
              </a:rPr>
              <a:t>“Separar em caixinhas é uma técnica chamada envelope digital — você vê o progresso e evita gastar sem perceber.”</a:t>
            </a:r>
            <a:endParaRPr sz="115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8A79C0F9-62EA-4CE9-BFDE-177530F29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3931920"/>
            <a:ext cx="48463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5B6470"/>
                </a:solidFill>
              </a:rPr>
              <a:t>Pílula de conhecimento pré-aprovada, selecionada contextualmente — nunca gerada ao vivo pelo LLM.</a:t>
            </a:r>
            <a:endParaRPr sz="105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A3A07E04-D8D8-44A1-82C0-F20DA8561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937760"/>
            <a:ext cx="11091672" cy="685800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FFF1E0"/>
          </a:solidFill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D638C9D8-4F65-49FF-BDA1-2A80EEAE7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937760"/>
            <a:ext cx="10543032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0E1B33"/>
                </a:solidFill>
              </a:rPr>
              <a:t>Controle de frequência: no máximo 1 notificação proativa por categoria de padrão por dia, com opt-out — evita fadiga.</a:t>
            </a:r>
            <a:endParaRPr sz="125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1B1E81F5-818D-44BF-946E-3E6FED1FC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8872" y="6400800"/>
            <a:ext cx="457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5B6470"/>
                </a:solidFill>
              </a:rPr>
              <a:t>10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286473017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CCC1BD28-A229-440D-83AA-9D07105F7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5760"/>
            <a:ext cx="11091672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 spc="200">
                <a:solidFill>
                  <a:srgbClr val="FF6600"/>
                </a:solidFill>
              </a:rPr>
              <a:t>DIFERENCIAL COMPETITIVO</a:t>
            </a:r>
            <a:endParaRPr sz="13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B3265705-66DF-46E0-AE23-5DAAD10FC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85800"/>
            <a:ext cx="11091672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700" b="1">
                <a:solidFill>
                  <a:srgbClr val="0E1B33"/>
                </a:solidFill>
              </a:rPr>
              <a:t>Por que ninguém consegue copiar</a:t>
            </a:r>
            <a:endParaRPr sz="27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46BE0145-DE42-432B-8304-E454F4FEE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737360"/>
            <a:ext cx="2651760" cy="548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33"/>
          </a:solidFill>
          <a:ln xmlns:a="http://schemas.openxmlformats.org/drawingml/2006/main" w="6350">
            <a:solidFill>
              <a:srgbClr val="FFFFFF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361EACBF-8313-43E1-A0DB-733A0F4C7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737360"/>
            <a:ext cx="265176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endParaRPr sz="120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7BD64C44-7FB0-4318-A1A6-6BFE03141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1737360"/>
            <a:ext cx="2651760" cy="548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33"/>
          </a:solidFill>
          <a:ln xmlns:a="http://schemas.openxmlformats.org/drawingml/2006/main" w="6350">
            <a:solidFill>
              <a:srgbClr val="FFFFFF"/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85A997D1-A1A4-45D8-B295-766736204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1737360"/>
            <a:ext cx="265176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</a:rPr>
              <a:t>Bancos Digitais</a:t>
            </a:r>
            <a:endParaRPr sz="120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BA40C7A7-0AAE-4807-A986-EA49AFF6A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0" y="1737360"/>
            <a:ext cx="2926080" cy="548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33"/>
          </a:solidFill>
          <a:ln xmlns:a="http://schemas.openxmlformats.org/drawingml/2006/main" w="6350">
            <a:solidFill>
              <a:srgbClr val="FFFFFF"/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AE61A3AB-466D-4E1E-B706-83ED19E3C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0" y="1737360"/>
            <a:ext cx="292608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</a:rPr>
              <a:t>Itaú Hoje</a:t>
            </a:r>
            <a:endParaRPr sz="120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DAD36C7C-2122-458F-BF9E-D68AA5904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0" y="1737360"/>
            <a:ext cx="3227832" cy="548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600"/>
          </a:solidFill>
          <a:ln xmlns:a="http://schemas.openxmlformats.org/drawingml/2006/main" w="6350">
            <a:solidFill>
              <a:srgbClr val="FFFFFF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86A16025-AB68-4617-990C-DD69BEBAF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0" y="1737360"/>
            <a:ext cx="3227832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</a:rPr>
              <a:t>Itaú + APF</a:t>
            </a:r>
            <a:endParaRPr sz="120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B631BEF3-FF43-44B0-8A0F-15A453BE8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286000"/>
            <a:ext cx="2651760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6350">
            <a:solidFill>
              <a:srgbClr val="E3E5E9"/>
            </a:solidFill>
            <a:prstDash val="solid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E14AE484-C2F0-4851-87A3-F58D628E6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2286000"/>
            <a:ext cx="2505456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1">
                <a:solidFill>
                  <a:srgbClr val="0E1B33"/>
                </a:solidFill>
              </a:rPr>
              <a:t>Paradigma de interface</a:t>
            </a:r>
            <a:endParaRPr sz="105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9024DC89-BEE3-4C0E-9F6B-4478216A3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286000"/>
            <a:ext cx="2651760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E3E5E9"/>
            </a:solidFill>
            <a:prstDash val="solid"/>
          </a:ln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8A06BF06-C012-4EC7-BC22-86462760D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3552" y="2286000"/>
            <a:ext cx="2505456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E1B33"/>
                </a:solidFill>
              </a:rPr>
              <a:t>Sistema de navegação</a:t>
            </a:r>
            <a:endParaRPr sz="105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2CE86A84-B83A-469E-8CFE-6E49F6C5B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0" y="2286000"/>
            <a:ext cx="2926080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E3E5E9"/>
            </a:solidFill>
            <a:prstDash val="solid"/>
          </a:ln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CADE997B-B827-4473-9705-6B92BA633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5312" y="2286000"/>
            <a:ext cx="2779776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E1B33"/>
                </a:solidFill>
              </a:rPr>
              <a:t>Sistema de navegação</a:t>
            </a:r>
            <a:endParaRPr sz="1050"/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4B2816B3-55B2-4880-AAD5-BDE89AC29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0" y="2286000"/>
            <a:ext cx="3227832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E0"/>
          </a:solidFill>
          <a:ln xmlns:a="http://schemas.openxmlformats.org/drawingml/2006/main" w="6350">
            <a:solidFill>
              <a:srgbClr val="E3E5E9"/>
            </a:solidFill>
            <a:prstDash val="solid"/>
          </a:ln>
        </p:spPr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DF73B640-EDEB-47A6-AD9D-2C9B97916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1392" y="2286000"/>
            <a:ext cx="3081528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E1B33"/>
                </a:solidFill>
              </a:rPr>
              <a:t>Delegação: o cliente pede, o agente resolve</a:t>
            </a:r>
            <a:endParaRPr sz="105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3682DDA9-1D2C-4F64-B53D-50224C775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108960"/>
            <a:ext cx="2651760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6350">
            <a:solidFill>
              <a:srgbClr val="E3E5E9"/>
            </a:solidFill>
            <a:prstDash val="solid"/>
          </a:ln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8094B61D-AD80-4A6A-9855-4EECEC2E8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3108960"/>
            <a:ext cx="2505456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1">
                <a:solidFill>
                  <a:srgbClr val="0E1B33"/>
                </a:solidFill>
              </a:rPr>
              <a:t>Antecipação de necessidades</a:t>
            </a:r>
            <a:endParaRPr sz="1050"/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349C6B61-E2A4-4F54-9F02-B09F85711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108960"/>
            <a:ext cx="2651760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E3E5E9"/>
            </a:solidFill>
            <a:prstDash val="solid"/>
          </a:ln>
        </p:spPr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A7F2D6AD-AB30-42B3-B036-18CC72FC2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3552" y="3108960"/>
            <a:ext cx="2505456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E1B33"/>
                </a:solidFill>
              </a:rPr>
              <a:t>Não existe</a:t>
            </a:r>
            <a:endParaRPr sz="1050"/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DFF16F9F-063B-424B-9E69-753822170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0" y="3108960"/>
            <a:ext cx="2926080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E3E5E9"/>
            </a:solidFill>
            <a:prstDash val="solid"/>
          </a:ln>
        </p:spPr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9FA83235-7103-4A7B-9DE3-123E9D601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5312" y="3108960"/>
            <a:ext cx="2779776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E1B33"/>
                </a:solidFill>
              </a:rPr>
              <a:t>Não existe</a:t>
            </a:r>
            <a:endParaRPr sz="1050"/>
          </a:p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072AB3ED-ABB1-4D52-BDF1-005ADD800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0" y="3108960"/>
            <a:ext cx="3227832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E0"/>
          </a:solidFill>
          <a:ln xmlns:a="http://schemas.openxmlformats.org/drawingml/2006/main" w="6350">
            <a:solidFill>
              <a:srgbClr val="E3E5E9"/>
            </a:solidFill>
            <a:prstDash val="solid"/>
          </a:ln>
        </p:spPr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BDC7F0E5-7D24-478A-927A-F28AC6572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1392" y="3108960"/>
            <a:ext cx="3081528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E1B33"/>
                </a:solidFill>
              </a:rPr>
              <a:t>EPC detecta padrão e age antes do cliente pedir</a:t>
            </a:r>
            <a:endParaRPr sz="1050"/>
          </a:p>
        </p:txBody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EEED8782-0B27-4F32-A67F-FC0419B89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931920"/>
            <a:ext cx="2651760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6350">
            <a:solidFill>
              <a:srgbClr val="E3E5E9"/>
            </a:solidFill>
            <a:prstDash val="solid"/>
          </a:ln>
        </p:spPr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5F699085-FD1A-4A3C-92EE-0E1D6030E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3931920"/>
            <a:ext cx="2505456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1">
                <a:solidFill>
                  <a:srgbClr val="0E1B33"/>
                </a:solidFill>
              </a:rPr>
              <a:t>Segurança proativa</a:t>
            </a:r>
            <a:endParaRPr sz="1050"/>
          </a:p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BF0A27E9-57B9-43D7-99CC-BC5D9028F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931920"/>
            <a:ext cx="2651760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E3E5E9"/>
            </a:solidFill>
            <a:prstDash val="solid"/>
          </a:ln>
        </p:spPr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51323662-EB1C-48C3-ABAA-DBBEA1192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3552" y="3931920"/>
            <a:ext cx="2505456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E1B33"/>
                </a:solidFill>
              </a:rPr>
              <a:t>Reativa/regras rígidas</a:t>
            </a:r>
            <a:endParaRPr sz="1050"/>
          </a:p>
        </p:txBody>
      </p:sp>
      <p:sp>
        <p:nvSpPr>
          <p:cNvPr id="32" name="Shape 30">
            <a:extLst xmlns:a="http://schemas.openxmlformats.org/drawingml/2006/main">
              <a:ext uri="{FF2B5EF4-FFF2-40B4-BE49-F238E27FC236}">
                <a16:creationId xmlns:a16="http://schemas.microsoft.com/office/drawing/2014/main" id="{C1FF9EA7-B080-4DA1-90ED-D3D8B68D9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0" y="3931920"/>
            <a:ext cx="2926080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E3E5E9"/>
            </a:solidFill>
            <a:prstDash val="solid"/>
          </a:ln>
        </p:spPr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2F641807-150E-4A47-8B93-758EC6ABD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5312" y="3931920"/>
            <a:ext cx="2779776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E1B33"/>
                </a:solidFill>
              </a:rPr>
              <a:t>Comprovada no PJ, não no PF</a:t>
            </a:r>
            <a:endParaRPr sz="1050"/>
          </a:p>
        </p:txBody>
      </p:sp>
      <p:sp>
        <p:nvSpPr>
          <p:cNvPr id="34" name="Shape 32">
            <a:extLst xmlns:a="http://schemas.openxmlformats.org/drawingml/2006/main">
              <a:ext uri="{FF2B5EF4-FFF2-40B4-BE49-F238E27FC236}">
                <a16:creationId xmlns:a16="http://schemas.microsoft.com/office/drawing/2014/main" id="{3B3EF650-3D32-4651-8266-D2B54DFD8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0" y="3931920"/>
            <a:ext cx="3227832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E0"/>
          </a:solidFill>
          <a:ln xmlns:a="http://schemas.openxmlformats.org/drawingml/2006/main" w="6350">
            <a:solidFill>
              <a:srgbClr val="E3E5E9"/>
            </a:solidFill>
            <a:prstDash val="solid"/>
          </a:ln>
        </p:spPr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4FC1171F-D789-4C37-B306-F6B08CE22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1392" y="3931920"/>
            <a:ext cx="3081528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E1B33"/>
                </a:solidFill>
              </a:rPr>
              <a:t>Levada ao PF, integrada à jornada</a:t>
            </a:r>
            <a:endParaRPr sz="1050"/>
          </a:p>
        </p:txBody>
      </p:sp>
      <p:sp>
        <p:nvSpPr>
          <p:cNvPr id="36" name="Shape 34">
            <a:extLst xmlns:a="http://schemas.openxmlformats.org/drawingml/2006/main">
              <a:ext uri="{FF2B5EF4-FFF2-40B4-BE49-F238E27FC236}">
                <a16:creationId xmlns:a16="http://schemas.microsoft.com/office/drawing/2014/main" id="{D6B471F9-80A2-48C2-B95D-42CBF6900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754880"/>
            <a:ext cx="2651760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6350">
            <a:solidFill>
              <a:srgbClr val="E3E5E9"/>
            </a:solidFill>
            <a:prstDash val="solid"/>
          </a:ln>
        </p:spPr>
      </p:sp>
      <p:sp>
        <p:nvSpPr>
          <p:cNvPr id="37" name="Text 35">
            <a:extLst xmlns:a="http://schemas.openxmlformats.org/drawingml/2006/main">
              <a:ext uri="{FF2B5EF4-FFF2-40B4-BE49-F238E27FC236}">
                <a16:creationId xmlns:a16="http://schemas.microsoft.com/office/drawing/2014/main" id="{E829DDB2-2887-4AA1-83AD-588F50A56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4754880"/>
            <a:ext cx="2505456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1">
                <a:solidFill>
                  <a:srgbClr val="0E1B33"/>
                </a:solidFill>
              </a:rPr>
              <a:t>Profundidade + histórico</a:t>
            </a:r>
            <a:endParaRPr sz="1050"/>
          </a:p>
        </p:txBody>
      </p:sp>
      <p:sp>
        <p:nvSpPr>
          <p:cNvPr id="38" name="Shape 36">
            <a:extLst xmlns:a="http://schemas.openxmlformats.org/drawingml/2006/main">
              <a:ext uri="{FF2B5EF4-FFF2-40B4-BE49-F238E27FC236}">
                <a16:creationId xmlns:a16="http://schemas.microsoft.com/office/drawing/2014/main" id="{73D8F43C-A8CA-430E-9985-48D643951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754880"/>
            <a:ext cx="2651760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E3E5E9"/>
            </a:solidFill>
            <a:prstDash val="solid"/>
          </a:ln>
        </p:spPr>
      </p:sp>
      <p:sp>
        <p:nvSpPr>
          <p:cNvPr id="39" name="Text 37">
            <a:extLst xmlns:a="http://schemas.openxmlformats.org/drawingml/2006/main">
              <a:ext uri="{FF2B5EF4-FFF2-40B4-BE49-F238E27FC236}">
                <a16:creationId xmlns:a16="http://schemas.microsoft.com/office/drawing/2014/main" id="{A9719B9C-A0C6-42AA-BFB8-037408E3C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3552" y="4754880"/>
            <a:ext cx="2505456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E1B33"/>
                </a:solidFill>
              </a:rPr>
              <a:t>Poucos produtos, dado recente</a:t>
            </a:r>
            <a:endParaRPr sz="1050"/>
          </a:p>
        </p:txBody>
      </p:sp>
      <p:sp>
        <p:nvSpPr>
          <p:cNvPr id="40" name="Shape 38">
            <a:extLst xmlns:a="http://schemas.openxmlformats.org/drawingml/2006/main">
              <a:ext uri="{FF2B5EF4-FFF2-40B4-BE49-F238E27FC236}">
                <a16:creationId xmlns:a16="http://schemas.microsoft.com/office/drawing/2014/main" id="{A49D6FBE-8C68-4386-A00F-BBCDBBD3D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0" y="4754880"/>
            <a:ext cx="2926080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E3E5E9"/>
            </a:solidFill>
            <a:prstDash val="solid"/>
          </a:ln>
        </p:spPr>
      </p:sp>
      <p:sp>
        <p:nvSpPr>
          <p:cNvPr id="41" name="Text 39">
            <a:extLst xmlns:a="http://schemas.openxmlformats.org/drawingml/2006/main">
              <a:ext uri="{FF2B5EF4-FFF2-40B4-BE49-F238E27FC236}">
                <a16:creationId xmlns:a16="http://schemas.microsoft.com/office/drawing/2014/main" id="{E0FD8384-B4B4-4B1A-9FC6-D5BE89166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5312" y="4754880"/>
            <a:ext cx="2779776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E1B33"/>
                </a:solidFill>
              </a:rPr>
              <a:t>Completa, mas fragmentada</a:t>
            </a:r>
            <a:endParaRPr sz="1050"/>
          </a:p>
        </p:txBody>
      </p:sp>
      <p:sp>
        <p:nvSpPr>
          <p:cNvPr id="42" name="Shape 40">
            <a:extLst xmlns:a="http://schemas.openxmlformats.org/drawingml/2006/main">
              <a:ext uri="{FF2B5EF4-FFF2-40B4-BE49-F238E27FC236}">
                <a16:creationId xmlns:a16="http://schemas.microsoft.com/office/drawing/2014/main" id="{FEE67FE8-0EB9-45EF-9E1C-1327126FE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0" y="4754880"/>
            <a:ext cx="3227832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E0"/>
          </a:solidFill>
          <a:ln xmlns:a="http://schemas.openxmlformats.org/drawingml/2006/main" w="6350">
            <a:solidFill>
              <a:srgbClr val="E3E5E9"/>
            </a:solidFill>
            <a:prstDash val="solid"/>
          </a:ln>
        </p:spPr>
      </p:sp>
      <p:sp>
        <p:nvSpPr>
          <p:cNvPr id="43" name="Text 41">
            <a:extLst xmlns:a="http://schemas.openxmlformats.org/drawingml/2006/main">
              <a:ext uri="{FF2B5EF4-FFF2-40B4-BE49-F238E27FC236}">
                <a16:creationId xmlns:a16="http://schemas.microsoft.com/office/drawing/2014/main" id="{998890F4-6FAD-4EDE-B30C-74FA13485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1392" y="4754880"/>
            <a:ext cx="3081528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E1B33"/>
                </a:solidFill>
              </a:rPr>
              <a:t>Orquestrada por conversa e padrão</a:t>
            </a:r>
            <a:endParaRPr sz="1050"/>
          </a:p>
        </p:txBody>
      </p:sp>
      <p:sp>
        <p:nvSpPr>
          <p:cNvPr id="44" name="Text 42">
            <a:extLst xmlns:a="http://schemas.openxmlformats.org/drawingml/2006/main">
              <a:ext uri="{FF2B5EF4-FFF2-40B4-BE49-F238E27FC236}">
                <a16:creationId xmlns:a16="http://schemas.microsoft.com/office/drawing/2014/main" id="{548CBD42-5A96-49E7-9431-458443056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8872" y="6400800"/>
            <a:ext cx="457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5B6470"/>
                </a:solidFill>
              </a:rPr>
              <a:t>11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1380038434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77B235BD-2E27-48D4-8A64-1088E63EF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5760"/>
            <a:ext cx="11091672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 spc="200">
                <a:solidFill>
                  <a:srgbClr val="FF6600"/>
                </a:solidFill>
              </a:rPr>
              <a:t>VIABILIDADE ECONÔMICA</a:t>
            </a:r>
            <a:endParaRPr sz="13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28F324AC-9D25-426A-95BE-81836586F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85800"/>
            <a:ext cx="11091672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700" b="1">
                <a:solidFill>
                  <a:srgbClr val="0E1B33"/>
                </a:solidFill>
              </a:rPr>
              <a:t>Os números do caso de negócio</a:t>
            </a:r>
            <a:endParaRPr sz="27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D81C911F-7244-45BA-A97A-5999E947B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91640"/>
            <a:ext cx="5394960" cy="3749040"/>
          </a:xfrm>
          <a:prstGeom xmlns:a="http://schemas.openxmlformats.org/drawingml/2006/main" prst="roundRect">
            <a:avLst>
              <a:gd name="adj" fmla="val 2439"/>
            </a:avLst>
          </a:prstGeom>
          <a:solidFill xmlns:a="http://schemas.openxmlformats.org/drawingml/2006/main">
            <a:srgbClr val="F4F5F7"/>
          </a:solidFill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3DAA8520-F8F2-475E-9A76-F4B69A14C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828800"/>
            <a:ext cx="48463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0E1B33"/>
                </a:solidFill>
              </a:rPr>
              <a:t>Retenção (base existente)</a:t>
            </a:r>
            <a:endParaRPr sz="15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EDA4FC37-7682-480A-86DC-0D87B702D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286000"/>
            <a:ext cx="484632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lnSpc>
                <a:spcPct val="130000"/>
              </a:lnSpc>
              <a:buNone/>
            </a:pPr>
            <a:r>
              <a:rPr sz="1300" b="1">
                <a:solidFill>
                  <a:srgbClr val="FF6600"/>
                </a:solidFill>
              </a:rPr>
              <a:t>8 milhões</a:t>
            </a:r>
            <a:r>
              <a:rPr sz="1200">
                <a:solidFill>
                  <a:srgbClr val="5B6470"/>
                </a:solidFill>
              </a:rPr>
              <a:t>  de clientes 18–29 anos (SAM)
</a:t>
            </a:r>
            <a:r>
              <a:rPr sz="1300" b="1">
                <a:solidFill>
                  <a:srgbClr val="FF6600"/>
                </a:solidFill>
              </a:rPr>
              <a:t>15% → 1,2 milhão</a:t>
            </a:r>
            <a:r>
              <a:rPr sz="1200">
                <a:solidFill>
                  <a:srgbClr val="5B6470"/>
                </a:solidFill>
              </a:rPr>
              <a:t>  expostos a golpe/ano
</a:t>
            </a:r>
            <a:r>
              <a:rPr sz="1300" b="1">
                <a:solidFill>
                  <a:srgbClr val="FF6600"/>
                </a:solidFill>
              </a:rPr>
              <a:t>25% → 300 mil</a:t>
            </a:r>
            <a:r>
              <a:rPr sz="1200">
                <a:solidFill>
                  <a:srgbClr val="5B6470"/>
                </a:solidFill>
              </a:rPr>
              <a:t>  em risco de churn</a:t>
            </a:r>
            <a:endParaRPr sz="13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FF8D6B2F-6531-4335-8209-90B5794ED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474720"/>
            <a:ext cx="4846320" cy="86868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E1B33"/>
          </a:solidFill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C9CF0C0C-114E-4969-B4D9-600929539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3538728"/>
            <a:ext cx="44805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D7DCE6"/>
                </a:solidFill>
              </a:rPr>
              <a:t>Piso conservador (CAC evitado)</a:t>
            </a:r>
            <a:endParaRPr sz="11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AF743A5F-145E-4918-8142-C3A43F8F6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3794760"/>
            <a:ext cx="44805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00" b="1">
                <a:solidFill>
                  <a:srgbClr val="FF6600"/>
                </a:solidFill>
              </a:rPr>
              <a:t>R$ 75 milhões/ano</a:t>
            </a:r>
            <a:endParaRPr sz="22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D9350394-5DF3-4B18-B22D-241A9A078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480560"/>
            <a:ext cx="484632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i="1">
                <a:solidFill>
                  <a:srgbClr val="5B6470"/>
                </a:solidFill>
              </a:rPr>
              <a:t>Piso conservador — valor real via LTV tende a ser maior.</a:t>
            </a:r>
            <a:endParaRPr sz="100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1A6D091B-CDFE-403F-A796-02AC2B92D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691640"/>
            <a:ext cx="5394960" cy="3749040"/>
          </a:xfrm>
          <a:prstGeom xmlns:a="http://schemas.openxmlformats.org/drawingml/2006/main" prst="roundRect">
            <a:avLst>
              <a:gd name="adj" fmla="val 2439"/>
            </a:avLst>
          </a:prstGeom>
          <a:solidFill xmlns:a="http://schemas.openxmlformats.org/drawingml/2006/main">
            <a:srgbClr val="F4F5F7"/>
          </a:solidFill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BC2B2CE7-D666-4F27-A083-1A0199A09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1828800"/>
            <a:ext cx="48463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0E1B33"/>
                </a:solidFill>
              </a:rPr>
              <a:t>Engajamento e automações</a:t>
            </a:r>
            <a:endParaRPr sz="15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439BA874-7ECB-49FA-A359-8B543F0F7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2286000"/>
            <a:ext cx="484632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lnSpc>
                <a:spcPct val="130000"/>
              </a:lnSpc>
              <a:buNone/>
            </a:pPr>
            <a:r>
              <a:rPr sz="1300" b="1">
                <a:solidFill>
                  <a:srgbClr val="FF6600"/>
                </a:solidFill>
              </a:rPr>
              <a:t>480 mil</a:t>
            </a:r>
            <a:r>
              <a:rPr sz="1200">
                <a:solidFill>
                  <a:srgbClr val="5B6470"/>
                </a:solidFill>
              </a:rPr>
              <a:t>  usam comparador — R$ 180/ano
</a:t>
            </a:r>
            <a:r>
              <a:rPr sz="1300" b="1">
                <a:solidFill>
                  <a:srgbClr val="FF6600"/>
                </a:solidFill>
              </a:rPr>
              <a:t>240 mil</a:t>
            </a:r>
            <a:r>
              <a:rPr sz="1200">
                <a:solidFill>
                  <a:srgbClr val="5B6470"/>
                </a:solidFill>
              </a:rPr>
              <a:t>  novos investidores — R$ 1.500 ticket
</a:t>
            </a:r>
            <a:r>
              <a:rPr sz="1300" b="1">
                <a:solidFill>
                  <a:srgbClr val="FF6600"/>
                </a:solidFill>
              </a:rPr>
              <a:t>480 mil</a:t>
            </a:r>
            <a:r>
              <a:rPr sz="1200">
                <a:solidFill>
                  <a:srgbClr val="5B6470"/>
                </a:solidFill>
              </a:rPr>
              <a:t>  adotam Pix Automático/caixinha (EPC)</a:t>
            </a:r>
            <a:endParaRPr sz="130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C23FF923-8A6E-4798-BFB8-33D8E0533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3474720"/>
            <a:ext cx="4846320" cy="86868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E1B33"/>
          </a:solidFill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D7D87F02-8932-41C6-A82A-EB7CC5800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0" y="3538728"/>
            <a:ext cx="44805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D7DCE6"/>
                </a:solidFill>
              </a:rPr>
              <a:t>Receita recorrente estimada</a:t>
            </a:r>
            <a:endParaRPr sz="11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BC1D2BF5-8D33-4CC3-AA51-7A32D8667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0" y="3794760"/>
            <a:ext cx="44805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00" b="1">
                <a:solidFill>
                  <a:srgbClr val="FF6600"/>
                </a:solidFill>
              </a:rPr>
              <a:t>R$ 2,88 milhões/ano</a:t>
            </a:r>
            <a:endParaRPr sz="22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2F26F66F-C1E4-47B1-848E-D2B413AFF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4480560"/>
            <a:ext cx="484632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i="1">
                <a:solidFill>
                  <a:srgbClr val="5B6470"/>
                </a:solidFill>
              </a:rPr>
              <a:t>0,8% a.a. de spread é premissa ilustrativa a validar com o Itaú.</a:t>
            </a:r>
            <a:endParaRPr sz="1000"/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E08424C7-C24B-4131-8351-434D740F7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623560"/>
            <a:ext cx="11091672" cy="685800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FFF1E0"/>
          </a:solidFill>
        </p:spPr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A775CF24-1A2C-4204-9BFB-B5339E05A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623560"/>
            <a:ext cx="10543032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0E1B33"/>
                </a:solidFill>
              </a:rPr>
              <a:t>Investimento MVP: </a:t>
            </a:r>
            <a:r>
              <a:rPr sz="1300">
                <a:solidFill>
                  <a:srgbClr val="0E1B33"/>
                </a:solidFill>
              </a:rPr>
              <a:t>R$ 2–4 milhões      </a:t>
            </a:r>
            <a:r>
              <a:rPr sz="1300" b="1">
                <a:solidFill>
                  <a:srgbClr val="0E1B33"/>
                </a:solidFill>
              </a:rPr>
              <a:t>Payback estimado: </a:t>
            </a:r>
            <a:r>
              <a:rPr sz="1300">
                <a:solidFill>
                  <a:srgbClr val="0E1B33"/>
                </a:solidFill>
              </a:rPr>
              <a:t>12–18 meses (conservador)</a:t>
            </a:r>
            <a:endParaRPr sz="130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69D68FE4-8F25-4EA9-8EC7-8C97B1039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8872" y="6400800"/>
            <a:ext cx="457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5B6470"/>
                </a:solidFill>
              </a:rPr>
              <a:t>12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257630615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1BED0947-92D6-4E01-B21C-163366E58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5760"/>
            <a:ext cx="11091672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 spc="200">
                <a:solidFill>
                  <a:srgbClr val="FF6600"/>
                </a:solidFill>
              </a:rPr>
              <a:t>REGULATÓRIO</a:t>
            </a:r>
            <a:endParaRPr sz="13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D8545B5D-89E4-48F0-AAD9-EDEB98EB6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85800"/>
            <a:ext cx="11091672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700" b="1">
                <a:solidFill>
                  <a:srgbClr val="0E1B33"/>
                </a:solidFill>
              </a:rPr>
              <a:t>O momento é agora</a:t>
            </a:r>
            <a:endParaRPr sz="27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41D93C04-6AD3-4C9E-A237-B7433271D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828800"/>
            <a:ext cx="3520440" cy="3108960"/>
          </a:xfrm>
          <a:prstGeom xmlns:a="http://schemas.openxmlformats.org/drawingml/2006/main" prst="roundRect">
            <a:avLst>
              <a:gd name="adj" fmla="val 2941"/>
            </a:avLst>
          </a:prstGeom>
          <a:solidFill xmlns:a="http://schemas.openxmlformats.org/drawingml/2006/main">
            <a:srgbClr val="F4F5F7"/>
          </a:solidFill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7DDF4202-AA23-4913-A05E-EC18C0EFC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828800"/>
            <a:ext cx="3520440" cy="10972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6600"/>
          </a:solidFill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1406BAE1-D1FA-4AF1-871E-44B84051C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03120"/>
            <a:ext cx="29718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50" b="1">
                <a:solidFill>
                  <a:srgbClr val="0E1B33"/>
                </a:solidFill>
              </a:rPr>
              <a:t>MED 2.0</a:t>
            </a:r>
            <a:endParaRPr sz="165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9AE70CD0-A6CA-458B-87EB-C331DD140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697480"/>
            <a:ext cx="2971800" cy="2103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5B6470"/>
                </a:solidFill>
              </a:rPr>
              <a:t>Obrigatório desde fev/2026. Responsabilidade direta do banco na devolução em casos de fraude no Pix.</a:t>
            </a:r>
            <a:endParaRPr sz="120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CFFBAB35-61C3-4FFD-995D-B00953BAE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828800"/>
            <a:ext cx="3520440" cy="3108960"/>
          </a:xfrm>
          <a:prstGeom xmlns:a="http://schemas.openxmlformats.org/drawingml/2006/main" prst="roundRect">
            <a:avLst>
              <a:gd name="adj" fmla="val 2941"/>
            </a:avLst>
          </a:prstGeom>
          <a:solidFill xmlns:a="http://schemas.openxmlformats.org/drawingml/2006/main">
            <a:srgbClr val="F4F5F7"/>
          </a:solidFill>
        </p:spPr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16B7A834-113F-42A4-A73C-6F0457441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828800"/>
            <a:ext cx="3520440" cy="10972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6600"/>
          </a:solidFill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F462D321-33A9-4915-841C-7D88E7179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2103120"/>
            <a:ext cx="29718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50" b="1">
                <a:solidFill>
                  <a:srgbClr val="0E1B33"/>
                </a:solidFill>
              </a:rPr>
              <a:t>Pix Automático</a:t>
            </a:r>
            <a:endParaRPr sz="165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0C82FC45-667E-42B7-9FDF-70C04EE02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2697480"/>
            <a:ext cx="2971800" cy="2103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5B6470"/>
                </a:solidFill>
              </a:rPr>
              <a:t>Lançado pelo BC em jun/2025, obrigatório desde out/2025 — base real para a automação de recorrência do EPC.</a:t>
            </a:r>
            <a:endParaRPr sz="120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AAE7B04D-B62A-4C2D-AE5C-90815DFC1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1828800"/>
            <a:ext cx="3520440" cy="3108960"/>
          </a:xfrm>
          <a:prstGeom xmlns:a="http://schemas.openxmlformats.org/drawingml/2006/main" prst="roundRect">
            <a:avLst>
              <a:gd name="adj" fmla="val 2941"/>
            </a:avLst>
          </a:prstGeom>
          <a:solidFill xmlns:a="http://schemas.openxmlformats.org/drawingml/2006/main">
            <a:srgbClr val="F4F5F7"/>
          </a:solidFill>
        </p:spPr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AF0BDA4B-7E91-42D2-8BFC-56C063901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1828800"/>
            <a:ext cx="3520440" cy="10972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6600"/>
          </a:solidFill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B9EC19C2-33F4-43F0-9214-EE1FDB16E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0" y="2103120"/>
            <a:ext cx="29718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50" b="1">
                <a:solidFill>
                  <a:srgbClr val="0E1B33"/>
                </a:solidFill>
              </a:rPr>
              <a:t>Suitability (CVM)</a:t>
            </a:r>
            <a:endParaRPr sz="165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F70E01F3-1C8A-4EEB-8F23-A2190F54D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0" y="2697480"/>
            <a:ext cx="2971800" cy="2103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5B6470"/>
                </a:solidFill>
              </a:rPr>
              <a:t>Sugestão de investimento restrita a produtos de baixíssimo risco; projeção sempre estimada, nunca promessa.</a:t>
            </a:r>
            <a:endParaRPr sz="120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C7D0F058-D15B-469B-9DBE-2A9413FFB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257800"/>
            <a:ext cx="11091672" cy="82296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4F5F7"/>
          </a:solidFill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9C4441C4-D18A-42EA-8D9A-75735C5CF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330952"/>
            <a:ext cx="10543032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i="1">
                <a:solidFill>
                  <a:srgbClr val="0E1B33"/>
                </a:solidFill>
              </a:rPr>
              <a:t>O Itaú tem incentivo jurídico, reputacional e de retenção para investir na orquestração completa.</a:t>
            </a:r>
            <a:endParaRPr sz="15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094B0384-D0CA-4C27-AA97-46DEA98BE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8872" y="6400800"/>
            <a:ext cx="457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5B6470"/>
                </a:solidFill>
              </a:rPr>
              <a:t>13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265817253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7AEA7C9F-E527-410B-A2A2-DD4FF0D09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5760"/>
            <a:ext cx="11091672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 spc="200">
                <a:solidFill>
                  <a:srgbClr val="FF6600"/>
                </a:solidFill>
              </a:rPr>
              <a:t>GOVERNANÇA E CONFORMIDADE</a:t>
            </a:r>
            <a:endParaRPr sz="13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99766DD1-8618-4CB1-83F8-A83FCF501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85800"/>
            <a:ext cx="11091672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700" b="1">
                <a:solidFill>
                  <a:srgbClr val="0E1B33"/>
                </a:solidFill>
              </a:rPr>
              <a:t>Regras que o EPC nunca quebra</a:t>
            </a:r>
            <a:endParaRPr sz="27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634FBA6D-F858-4D2E-A81E-617A184C8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828800"/>
            <a:ext cx="5532120" cy="128016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4F5F7"/>
          </a:solidFill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5452E521-9D6E-4C65-AEF4-FB2A3321C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938528"/>
            <a:ext cx="50749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F6600"/>
                </a:solidFill>
              </a:rPr>
              <a:t>Suitability</a:t>
            </a:r>
            <a:endParaRPr sz="13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74187C96-DE13-45BF-8944-8D9AFD751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331720"/>
            <a:ext cx="50749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0E1B33"/>
                </a:solidFill>
              </a:rPr>
              <a:t>Só sugere produtos de baixíssimo risco e liquidez diária. Produto mais complexo fica fora do escopo automático.</a:t>
            </a:r>
            <a:endParaRPr sz="105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5DF7F07C-6F25-4D4E-BE0F-0AC1FFC17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1828800"/>
            <a:ext cx="5532120" cy="128016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4F5F7"/>
          </a:solidFill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9AB258ED-8E97-4499-A06C-F2FBD5770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1938528"/>
            <a:ext cx="50749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F6600"/>
                </a:solidFill>
              </a:rPr>
              <a:t>Projeção, não promessa</a:t>
            </a:r>
            <a:endParaRPr sz="13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2AC23E82-1CE9-417C-99F2-8BE8BA6D5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2331720"/>
            <a:ext cx="50749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0E1B33"/>
                </a:solidFill>
              </a:rPr>
              <a:t>Toda estimativa de rendimento é ilustrativa, com disclaimer — nunca valor garantido.</a:t>
            </a:r>
            <a:endParaRPr sz="105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D98D3E22-BB96-4484-A98A-3DE6565A4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291840"/>
            <a:ext cx="5532120" cy="128016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4F5F7"/>
          </a:solidFill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0201670D-EA43-4243-9E39-DA7384DF3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401568"/>
            <a:ext cx="50749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F6600"/>
                </a:solidFill>
              </a:rPr>
              <a:t>Consentimento granular</a:t>
            </a:r>
            <a:endParaRPr sz="13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BCDF011F-02C9-4BA2-9AD5-D1C304911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794760"/>
            <a:ext cx="50749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0E1B33"/>
                </a:solidFill>
              </a:rPr>
              <a:t>Cliente autoriza por categoria de análise comportamental — não um checkbox único genérico.</a:t>
            </a:r>
            <a:endParaRPr sz="1050"/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75A29272-8C4D-48D2-8453-CDB816B3F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3291840"/>
            <a:ext cx="5532120" cy="128016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4F5F7"/>
          </a:solidFill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F7D3B026-392E-4155-8B75-FC360DAAC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3401568"/>
            <a:ext cx="50749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F6600"/>
                </a:solidFill>
              </a:rPr>
              <a:t>Frequência controlada</a:t>
            </a:r>
            <a:endParaRPr sz="13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6F72C1B5-543F-462C-8E47-D124BDBE4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3794760"/>
            <a:ext cx="50749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0E1B33"/>
                </a:solidFill>
              </a:rPr>
              <a:t>Máximo 1 notificação proativa por categoria de padrão por dia, com opt-out — evita fadiga.</a:t>
            </a:r>
            <a:endParaRPr sz="105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D872F0AF-EDF8-4701-B2E5-2BF231DDB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754880"/>
            <a:ext cx="5532120" cy="128016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4F5F7"/>
          </a:solidFill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51D9C6A8-81FA-4240-814F-9F8612577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864608"/>
            <a:ext cx="50749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F6600"/>
                </a:solidFill>
              </a:rPr>
              <a:t>Conteúdo pré-aprovado</a:t>
            </a:r>
            <a:endParaRPr sz="13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BE649B09-8F94-4855-B129-FF8D5857D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257800"/>
            <a:ext cx="50749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0E1B33"/>
                </a:solidFill>
              </a:rPr>
              <a:t>Pílulas de conhecimento são um conjunto fixo, curado — nunca geradas ao vivo pelo LLM.</a:t>
            </a:r>
            <a:endParaRPr sz="105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6AB2A19E-DF46-4F35-8073-4C0ADDB83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8872" y="6400800"/>
            <a:ext cx="457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5B6470"/>
                </a:solidFill>
              </a:rPr>
              <a:t>14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1544293304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64829E80-FA9F-411F-8AE7-58930FD60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5760"/>
            <a:ext cx="11091672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 spc="200">
                <a:solidFill>
                  <a:srgbClr val="FF6600"/>
                </a:solidFill>
              </a:rPr>
              <a:t>PLANO DE IMPLEMENTAÇÃO</a:t>
            </a:r>
            <a:endParaRPr sz="13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84BEF58A-8DCC-44DD-8CE3-9B78ECF80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85800"/>
            <a:ext cx="11091672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700" b="1">
                <a:solidFill>
                  <a:srgbClr val="0E1B33"/>
                </a:solidFill>
              </a:rPr>
              <a:t>Duas propostas, dois apetites de inovação</a:t>
            </a:r>
            <a:endParaRPr sz="27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88405FBA-1F1F-490B-A240-7176189B8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783080"/>
            <a:ext cx="5394960" cy="356616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4F5F7"/>
          </a:solidFill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6E0014DC-9A5F-442A-9B80-4CDC333B6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783080"/>
            <a:ext cx="5394960" cy="10972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B2A4A"/>
          </a:solidFill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2E673E3E-4859-4DB8-8164-E9504A5E5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011680"/>
            <a:ext cx="48463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1B2A4A"/>
                </a:solidFill>
              </a:rPr>
              <a:t>CONSERVADORA — CHAT NO APP ITAÚ</a:t>
            </a:r>
            <a:endParaRPr sz="125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985FDF88-6036-45CD-B173-521125EE6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514600"/>
            <a:ext cx="4846320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0E1B33"/>
                </a:solidFill>
              </a:rPr>
              <a:t>• Ambiente 100% controlado pelo banco — mesma sessão autenticada</a:t>
            </a:r>
            <a:endParaRPr sz="12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56442A67-BC63-47C7-BDAD-DCCDE8CF7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172968"/>
            <a:ext cx="4846320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0E1B33"/>
                </a:solidFill>
              </a:rPr>
              <a:t>• Execução completa: qualquer ação confirma na própria conversa</a:t>
            </a:r>
            <a:endParaRPr sz="12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CE612965-21D3-4F09-B541-9CF8C0267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831336"/>
            <a:ext cx="4846320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0E1B33"/>
                </a:solidFill>
              </a:rPr>
              <a:t>• Sem dependência de aprovação de terceiros</a:t>
            </a:r>
            <a:endParaRPr sz="12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3CA40422-A6AF-48C1-9A84-7C19DAC66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489704"/>
            <a:ext cx="4846320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0E1B33"/>
                </a:solidFill>
              </a:rPr>
              <a:t>• Menor risco regulatório — caminho de adoção mais imediata</a:t>
            </a:r>
            <a:endParaRPr sz="120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BE3A5B4A-DCD9-49B9-A20F-24E3AADD7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783080"/>
            <a:ext cx="5394960" cy="356616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0E1B33"/>
          </a:solidFill>
        </p:spPr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36677D97-5291-4922-B3B9-531B5F50A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783080"/>
            <a:ext cx="5394960" cy="10972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6600"/>
          </a:solidFill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3C1F0F29-01E5-496D-BDD4-7BC68D8CA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2011680"/>
            <a:ext cx="48463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FF6600"/>
                </a:solidFill>
              </a:rPr>
              <a:t>ARROJADA — TELEGRAM → APP SEGURO</a:t>
            </a:r>
            <a:endParaRPr sz="12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3331E1A8-666A-43B4-8489-5A69C1AAF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2514600"/>
            <a:ext cx="4846320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E8ECF3"/>
                </a:solidFill>
              </a:rPr>
              <a:t>• Webhook e vínculo por código de uso único</a:t>
            </a:r>
            <a:endParaRPr sz="115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0B6D0D6C-7A8D-4AB8-A70E-2917F7D31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3172968"/>
            <a:ext cx="4846320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E8ECF3"/>
                </a:solidFill>
              </a:rPr>
              <a:t>• Estado persiste entre canais e reinícios</a:t>
            </a:r>
            <a:endParaRPr sz="115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AA5A0519-0D65-4EC3-A9DF-3820375F3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3831336"/>
            <a:ext cx="4846320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E8ECF3"/>
                </a:solidFill>
              </a:rPr>
              <a:t>• Deep link com token de 15 min e uso único</a:t>
            </a:r>
            <a:endParaRPr sz="115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2EFA49B1-0EC1-4106-83EA-C0E14C1A9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4489704"/>
            <a:ext cx="4846320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E8ECF3"/>
                </a:solidFill>
              </a:rPr>
              <a:t>• Confirmação financeira só no app autenticado</a:t>
            </a:r>
            <a:endParaRPr sz="1150"/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1284B8E6-E0C5-441B-8D31-2F9747C2E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532120"/>
            <a:ext cx="11091672" cy="82296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4F5F7"/>
          </a:solidFill>
        </p:spPr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DD04E466-083F-4458-8ACE-12EF4ACA8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605272"/>
            <a:ext cx="10543032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i="1">
                <a:solidFill>
                  <a:srgbClr val="0E1B33"/>
                </a:solidFill>
              </a:rPr>
              <a:t>Mesma arquitetura do APF nos dois casos — muda só onde a conversa acontece. A escolha cabe ao Itaú.</a:t>
            </a:r>
            <a:endParaRPr sz="150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1638D3FD-9218-411D-ABC4-2BC5A22AC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8872" y="6400800"/>
            <a:ext cx="457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5B6470"/>
                </a:solidFill>
              </a:rPr>
              <a:t>15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3462083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E1B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707D47E3-0A27-475E-996C-B467FCE34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822960"/>
            <a:ext cx="10725912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 spc="200">
                <a:solidFill>
                  <a:srgbClr val="FF6600"/>
                </a:solidFill>
              </a:rPr>
              <a:t>PROTÓTIPOS — AS DUAS PROPOSTAS</a:t>
            </a:r>
            <a:endParaRPr sz="14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F19A10A7-5C3F-43E9-97B7-93A52F5CC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280160"/>
            <a:ext cx="10725912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200" b="1">
                <a:solidFill>
                  <a:srgbClr val="FFFFFF"/>
                </a:solidFill>
              </a:rPr>
              <a:t>O que vocês vão ver agora</a:t>
            </a:r>
            <a:endParaRPr sz="32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E60C4899-1B79-4829-8921-8339206D3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468880"/>
            <a:ext cx="10725912" cy="777240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24345A"/>
          </a:solidFill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1385CC8E-0A1E-45B1-9212-49250EF22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68880"/>
            <a:ext cx="54864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rgbClr val="FF6600"/>
                </a:solidFill>
              </a:rPr>
              <a:t>1</a:t>
            </a:r>
            <a:endParaRPr sz="20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1BC1E0EE-FFC7-479F-81F3-321CE4475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2468880"/>
            <a:ext cx="9720072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FFFFFF"/>
                </a:solidFill>
              </a:rPr>
              <a:t>App Flutter: câmera lê boleto; usuário revisa e confirma</a:t>
            </a:r>
            <a:endParaRPr sz="125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6B4C2E83-BBA6-48AF-B07C-AA598B497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429000"/>
            <a:ext cx="10725912" cy="777240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24345A"/>
          </a:solidFill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60881CC6-A645-4AE1-8E72-32E11DA11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29000"/>
            <a:ext cx="54864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rgbClr val="FF6600"/>
                </a:solidFill>
              </a:rPr>
              <a:t>2</a:t>
            </a:r>
            <a:endParaRPr sz="20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FACB879E-C437-47A9-967C-DFC0C96BB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3429000"/>
            <a:ext cx="9720072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FFFFFF"/>
                </a:solidFill>
              </a:rPr>
              <a:t>Telegram: inicia o Pix; deep link retoma o mesmo estado no app</a:t>
            </a:r>
            <a:endParaRPr sz="125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B3BCE427-5EE3-475A-AAF6-048F725F4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389120"/>
            <a:ext cx="10725912" cy="777240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24345A"/>
          </a:solidFill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43F55EE8-6F2A-44D6-97AC-918E0932A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89120"/>
            <a:ext cx="54864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rgbClr val="FF6600"/>
                </a:solidFill>
              </a:rPr>
              <a:t>3</a:t>
            </a:r>
            <a:endParaRPr sz="20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5F433AAE-6533-4282-A633-49A0B47B9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4389120"/>
            <a:ext cx="9720072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FFFFFF"/>
                </a:solidFill>
              </a:rPr>
              <a:t>Comparador: impacto em saldo, fatura e limite, com premissas visíveis</a:t>
            </a:r>
            <a:endParaRPr sz="1250"/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7C36EC26-86A5-4F34-AF66-73E95280B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349240"/>
            <a:ext cx="10725912" cy="777240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24345A"/>
          </a:solidFill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13033A5B-D78E-4EAA-9279-6708E9202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49240"/>
            <a:ext cx="54864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rgbClr val="FF6600"/>
                </a:solidFill>
              </a:rPr>
              <a:t>4</a:t>
            </a:r>
            <a:endParaRPr sz="20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5B533FC0-5F79-40AB-94CF-EE649592E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5349240"/>
            <a:ext cx="9720072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FFFFFF"/>
                </a:solidFill>
              </a:rPr>
              <a:t>EPC: sugestão automática, ação contextual, consentimento, mute e cooldown</a:t>
            </a:r>
            <a:endParaRPr sz="1250"/>
          </a:p>
        </p:txBody>
      </p:sp>
    </p:spTree>
    <p:extLst>
      <p:ext uri="{BB962C8B-B14F-4D97-AF65-F5344CB8AC3E}">
        <p14:creationId xmlns:p14="http://schemas.microsoft.com/office/powerpoint/2010/main" val="1342591020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53437C31-42C3-4A67-BBBC-1708E2B0D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5760"/>
            <a:ext cx="11091672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 spc="200">
                <a:solidFill>
                  <a:srgbClr val="FF6600"/>
                </a:solidFill>
              </a:rPr>
              <a:t>FECHAMENTO DO CASO</a:t>
            </a:r>
            <a:endParaRPr sz="13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90B8662D-4986-46EC-A830-5E202134E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85800"/>
            <a:ext cx="11091672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700" b="1">
                <a:solidFill>
                  <a:srgbClr val="0E1B33"/>
                </a:solidFill>
              </a:rPr>
              <a:t>Por que o Itaú vence com isso</a:t>
            </a:r>
            <a:endParaRPr sz="27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F35FF318-1EFF-4E4A-9EBF-122AFE078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828800"/>
            <a:ext cx="5349240" cy="173736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4F5F7"/>
          </a:solidFill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47BB65B0-3B9F-4E4C-B8A0-9F9C41C91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011680"/>
            <a:ext cx="4800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FF6600"/>
                </a:solidFill>
              </a:rPr>
              <a:t>Retenção</a:t>
            </a:r>
            <a:endParaRPr sz="155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3B0ADC38-46CC-44C8-962F-CC79A68AC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514600"/>
            <a:ext cx="48006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0E1B33"/>
                </a:solidFill>
              </a:rPr>
              <a:t>Até 300 mil clientes jovens por ano protegidos do churn por fraude (piso conservador).</a:t>
            </a:r>
            <a:endParaRPr sz="12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E07E890D-80BF-4718-B6F3-24865690A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828800"/>
            <a:ext cx="5349240" cy="173736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4F5F7"/>
          </a:solidFill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9FFCD0E8-FC22-4CF6-94B4-CE3056589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2011680"/>
            <a:ext cx="4800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FF6600"/>
                </a:solidFill>
              </a:rPr>
              <a:t>Engajamento</a:t>
            </a:r>
            <a:endParaRPr sz="155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AB81EE17-DBF5-4BC2-AED0-CBFB4C6E7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2514600"/>
            <a:ext cx="48006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0E1B33"/>
                </a:solidFill>
              </a:rPr>
              <a:t>Produtos de margem mais alta via sugestão contextual e automação — não marketing push.</a:t>
            </a:r>
            <a:endParaRPr sz="120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018E4553-DF8B-460F-9F34-4CC2E9BA4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794760"/>
            <a:ext cx="5349240" cy="173736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4F5F7"/>
          </a:solidFill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7D8BE917-63A5-4B4C-BC09-DCCFEECB2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977640"/>
            <a:ext cx="4800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FF6600"/>
                </a:solidFill>
              </a:rPr>
              <a:t>Risco jurídico e regulatório</a:t>
            </a:r>
            <a:endParaRPr sz="155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C8BD2EA7-0EE4-4211-9821-00919D327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480560"/>
            <a:ext cx="48006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0E1B33"/>
                </a:solidFill>
              </a:rPr>
              <a:t>Mitigação de responsabilidade objetiva; suitability e frequência de notificação já governadas.</a:t>
            </a:r>
            <a:endParaRPr sz="1200"/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492944E1-E5D2-4F90-B81C-E92146BE1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794760"/>
            <a:ext cx="5349240" cy="173736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4F5F7"/>
          </a:solidFill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5E75DB2D-B736-480E-91C9-42F4BD555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3977640"/>
            <a:ext cx="4800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FF6600"/>
                </a:solidFill>
              </a:rPr>
              <a:t>Antecipação real</a:t>
            </a:r>
            <a:endParaRPr sz="155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DDA1BF24-54FA-4BEA-8D4F-A6A22DD63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4480560"/>
            <a:ext cx="48006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0E1B33"/>
                </a:solidFill>
              </a:rPr>
              <a:t>EPC entrega o que o edital pede literalmente: antecipar necessidades, não só responder.</a:t>
            </a:r>
            <a:endParaRPr sz="120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C4225CBA-3523-42F5-8904-4F50F4E40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989320"/>
            <a:ext cx="11091672" cy="82296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4F5F7"/>
          </a:solidFill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D5A55CD0-8042-4141-AB44-2D8E27704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6062472"/>
            <a:ext cx="10543032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i="1">
                <a:solidFill>
                  <a:srgbClr val="0E1B33"/>
                </a:solidFill>
              </a:rPr>
              <a:t>Não é mais um app que você usa. É um agente que aprende com você, avisa antes e te ensina no momento certo.</a:t>
            </a:r>
            <a:endParaRPr sz="15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4DE11367-A1ED-4109-85BE-B1B5598C9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8872" y="6400800"/>
            <a:ext cx="457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5B6470"/>
                </a:solidFill>
              </a:rPr>
              <a:t>17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876828919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AC94F87F-60A5-44BA-833F-A34B38BCC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5760"/>
            <a:ext cx="11091672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 spc="200">
                <a:solidFill>
                  <a:srgbClr val="FF6600"/>
                </a:solidFill>
              </a:rPr>
              <a:t>APÊNDICE — BACKUP</a:t>
            </a:r>
            <a:endParaRPr sz="13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E26C1C86-ECBE-4A5F-A5CB-36F2FCB10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85800"/>
            <a:ext cx="11091672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700" b="1">
                <a:solidFill>
                  <a:srgbClr val="0E1B33"/>
                </a:solidFill>
              </a:rPr>
              <a:t>Perguntas antecipadas da banca</a:t>
            </a:r>
            <a:endParaRPr sz="27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41DDA44D-F306-4268-A840-058F2A4F2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828800"/>
            <a:ext cx="54864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E1B33"/>
                </a:solidFill>
              </a:rPr>
              <a:t>“O que está realmente integrado no protótipo?”</a:t>
            </a:r>
            <a:endParaRPr sz="12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C6436304-16D4-476A-BE8A-4D43DECE4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331720"/>
            <a:ext cx="54864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5B6470"/>
                </a:solidFill>
              </a:rPr>
              <a:t>Imagem de boleto, proatividade, biometria e handoff Telegram→app com estado e token persistidos.</a:t>
            </a:r>
            <a:endParaRPr sz="105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48DCB4C5-172F-4FB8-8FA3-7D1FCD6E1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337560"/>
            <a:ext cx="54864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E1B33"/>
                </a:solidFill>
              </a:rPr>
              <a:t>“Como vocês evitam prometer rendimento de investimento?”</a:t>
            </a:r>
            <a:endParaRPr sz="12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E34F1A2C-58BA-4E62-B685-8B64959F5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840480"/>
            <a:ext cx="54864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5B6470"/>
                </a:solidFill>
              </a:rPr>
              <a:t>Só sugerimos produtos de baixíssimo risco; toda projeção é estimativa com disclaimer, nunca promessa — suitability CVM respeitada.</a:t>
            </a:r>
            <a:endParaRPr sz="105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0EC2621F-E350-4BF3-8166-BBD222968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846320"/>
            <a:ext cx="54864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E1B33"/>
                </a:solidFill>
              </a:rPr>
              <a:t>“O agente não vai virar spam de notificação?”</a:t>
            </a:r>
            <a:endParaRPr sz="12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0A674375-9A92-4AD1-9B80-AADE24C55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349240"/>
            <a:ext cx="54864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5B6470"/>
                </a:solidFill>
              </a:rPr>
              <a:t>Máximo 1 notificação proativa por categoria de padrão por dia, com opt-out granular.</a:t>
            </a:r>
            <a:endParaRPr sz="105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CFE93710-779E-4D05-B1C6-EE5090D9E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1828800"/>
            <a:ext cx="54864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E1B33"/>
                </a:solidFill>
              </a:rPr>
              <a:t>“Os dados do protótipo são reais?”</a:t>
            </a:r>
            <a:endParaRPr sz="12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00C7C2C4-43AB-4F1E-A87F-3F240E6F1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2331720"/>
            <a:ext cx="54864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5B6470"/>
                </a:solidFill>
              </a:rPr>
              <a:t>São dados sintéticos realistas, gerados para representar o comportamento típico do público-alvo — não há acesso a API de produção do Itaú, o que exigiria credenciamento formal como instituição participante.</a:t>
            </a:r>
            <a:endParaRPr sz="105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8BCB4746-C695-49FD-B524-655C67C34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3337560"/>
            <a:ext cx="54864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E1B33"/>
                </a:solidFill>
              </a:rPr>
              <a:t>“Por que módulos e não agentes autônomos?”</a:t>
            </a:r>
            <a:endParaRPr sz="12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3CFEE1AB-096A-4C34-B050-BCCF7265F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3840480"/>
            <a:ext cx="54864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5B6470"/>
                </a:solidFill>
              </a:rPr>
              <a:t>É mais honesto tecnicamente: um único motor com roteamento de intenção e tool-calling, não processos autônomos independentes.</a:t>
            </a:r>
            <a:endParaRPr sz="105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CC49BD28-0B16-4CB9-A79F-FE2D45492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8872" y="6400800"/>
            <a:ext cx="457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5B6470"/>
                </a:solidFill>
              </a:rPr>
              <a:t>18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1574457714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2026-08-30T00:13:22.7460000Z</dcterms:created>
  <dcterms:modified xsi:type="dcterms:W3CDTF">2026-08-30T00:13:22.7460000Z</dcterms:modified>
</coreProperties>
</file>